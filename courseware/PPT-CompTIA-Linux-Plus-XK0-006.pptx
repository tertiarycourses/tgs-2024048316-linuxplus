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mptia-linux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640080"/>
            <a:ext cx="1757405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37744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CompTIA Certified Linux+ Training (XK0-006)</a:t>
            </a:r>
          </a:p>
          <a:p>
            <a:pPr algn="ctr">
              <a:spcAft>
                <a:spcPts val="600"/>
              </a:spcAft>
            </a:pPr>
            <a:r>
              <a:rPr sz="2000" b="0">
                <a:solidFill>
                  <a:srgbClr val="F3C5CB"/>
                </a:solidFill>
                <a:latin typeface="Arial"/>
              </a:rPr>
              <a:t>WSQ Training  ·  CompTIA Linux+ XK0-006 V8</a:t>
            </a:r>
          </a:p>
          <a:p>
            <a:pPr algn="ctr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Course Code: TGS-2024048316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93776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Tertiary Infotech Academy Pte Ltd</a:t>
            </a:r>
          </a:p>
          <a:p>
            <a:pPr algn="ctr">
              <a:spcAft>
                <a:spcPts val="800"/>
              </a:spcAft>
            </a:pPr>
            <a:r>
              <a:rPr sz="1300" b="0">
                <a:solidFill>
                  <a:srgbClr val="C9CED6"/>
                </a:solidFill>
                <a:latin typeface="Arial"/>
              </a:rPr>
              <a:t>UEN: 201200696W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C9CED6"/>
                </a:solidFill>
                <a:latin typeface="Arial"/>
              </a:rPr>
              <a:t>Trainer: Dr. Alfred Ang     |     Version 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AA1AC"/>
                </a:solidFill>
                <a:latin typeface="Arial"/>
              </a:rPr>
              <a:t>© Tertiary Infotech Academy Pte Ltd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Digital Attendance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11827"/>
                </a:solidFill>
                <a:latin typeface="Arial"/>
              </a:rPr>
              <a:t>•  Take the AM, PM and Assessment digital attendance on every training day.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11827"/>
                </a:solidFill>
                <a:latin typeface="Arial"/>
              </a:rPr>
              <a:t>•  Scan the attendance QR code on the LMS (TRAQOM) for each session.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11827"/>
                </a:solidFill>
                <a:latin typeface="Arial"/>
              </a:rPr>
              <a:t>•  Attendance of at least 75% is required for funding and certification.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11827"/>
                </a:solidFill>
                <a:latin typeface="Arial"/>
              </a:rPr>
              <a:t>•  LMS: https://lms-tms.tertiaryinfotech.com/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About the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General Trainer (template)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Name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0" y="1965960"/>
            <a:ext cx="7863840" cy="38404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975104"/>
            <a:ext cx="7680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8716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Title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2532888"/>
            <a:ext cx="7863840" cy="38404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2542032"/>
            <a:ext cx="7680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054096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Qualifications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0" y="3099816"/>
            <a:ext cx="7863840" cy="38404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3108960"/>
            <a:ext cx="7680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621024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Areas of Expertise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0" y="3666744"/>
            <a:ext cx="7863840" cy="38404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66160" y="3675888"/>
            <a:ext cx="7680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1879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Industry Experience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720" y="4233672"/>
            <a:ext cx="7863840" cy="38404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6160" y="4242816"/>
            <a:ext cx="7680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7548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Contact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0" y="4800600"/>
            <a:ext cx="7863840" cy="38404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6160" y="4809744"/>
            <a:ext cx="7680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413248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B66"/>
                </a:solidFill>
                <a:latin typeface="Arial"/>
              </a:rPr>
              <a:t>This blank template can be completed by any assigned trainer.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About the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Your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Name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0" y="1965960"/>
            <a:ext cx="7863840" cy="38404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975104"/>
            <a:ext cx="7680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Dr. Alfred Ang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8716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Title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2532888"/>
            <a:ext cx="7863840" cy="38404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2542032"/>
            <a:ext cx="7680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Principal Trainer &amp; Consultant, Tertiary Infotech Academy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054096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Qualifications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0" y="3099816"/>
            <a:ext cx="7863840" cy="38404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3108960"/>
            <a:ext cx="7680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PhD; ACTA/ACLP-certified adult educator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621024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Areas of Expertise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0" y="3666744"/>
            <a:ext cx="7863840" cy="38404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66160" y="3675888"/>
            <a:ext cx="7680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Linux systems administration, cloud, DevOps, cybersecurity,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1879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Industry Experience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720" y="4233672"/>
            <a:ext cx="7863840" cy="38404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6160" y="4242816"/>
            <a:ext cx="7680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20+ years in IT training, software and infrastructure engineering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7548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Contact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0" y="4800600"/>
            <a:ext cx="7863840" cy="38404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6160" y="4809744"/>
            <a:ext cx="7680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enquiry@tertiaryinfotech.com · +65 6100 0613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Let's Know Each Other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Learner Introduction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11827"/>
                </a:solidFill>
                <a:latin typeface="Arial"/>
              </a:rPr>
              <a:t>•  Your name and organisation / role.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11827"/>
                </a:solidFill>
                <a:latin typeface="Arial"/>
              </a:rPr>
              <a:t>•  Your current experience with Linux (beginner → advanced).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11827"/>
                </a:solidFill>
                <a:latin typeface="Arial"/>
              </a:rPr>
              <a:t>•  Which of the five domains matters most to your day job.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11827"/>
                </a:solidFill>
                <a:latin typeface="Arial"/>
              </a:rPr>
              <a:t>•  What you want to walk away able to do — and any exam timeline.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11827"/>
                </a:solidFill>
                <a:latin typeface="Arial"/>
              </a:rPr>
              <a:t>•  Be punctual for each session and after every break.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11827"/>
                </a:solidFill>
                <a:latin typeface="Arial"/>
              </a:rPr>
              <a:t>•  Set devices to silent; give the hands-on labs your full attention.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11827"/>
                </a:solidFill>
                <a:latin typeface="Arial"/>
              </a:rPr>
              <a:t>•  Ask questions any time — the labs are best learned by doing.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11827"/>
                </a:solidFill>
                <a:latin typeface="Arial"/>
              </a:rPr>
              <a:t>•  Do the labs yourself on Killercoda; typing builds exam-day muscle memory.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11827"/>
                </a:solidFill>
                <a:latin typeface="Arial"/>
              </a:rPr>
              <a:t>•  Respect fellow learners and keep shared environments clean (reset between labs).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Course Outline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Five Exam Domains · 30 Hands-on Labs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822960" cy="65836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56816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847088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11827"/>
                </a:solidFill>
                <a:latin typeface="Arial"/>
              </a:rPr>
              <a:t>Domain 1 — System Management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B66"/>
                </a:solidFill>
                <a:latin typeface="Arial"/>
              </a:rPr>
              <a:t>Labs 1–7  ·  objectives 1.1, 1.2, 1.3, 1.4, 1.5, 1.6, 1.7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670048"/>
            <a:ext cx="822960" cy="65836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4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688336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11827"/>
                </a:solidFill>
                <a:latin typeface="Arial"/>
              </a:rPr>
              <a:t>Domain 2 — Services and User Management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B66"/>
                </a:solidFill>
                <a:latin typeface="Arial"/>
              </a:rPr>
              <a:t>Labs 8–13  ·  objectives 2.1, 2.2, 2.3, 2.4, 2.5, 2.6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511296"/>
            <a:ext cx="822960" cy="65836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639312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529584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11827"/>
                </a:solidFill>
                <a:latin typeface="Arial"/>
              </a:rPr>
              <a:t>Domain 3 — Security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B66"/>
                </a:solidFill>
                <a:latin typeface="Arial"/>
              </a:rPr>
              <a:t>Labs 14–19  ·  objectives 3.1, 3.2, 3.3, 3.4, 3.5, 3.6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352544"/>
            <a:ext cx="822960" cy="65836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480559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370831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11827"/>
                </a:solidFill>
                <a:latin typeface="Arial"/>
              </a:rPr>
              <a:t>Domain 4 — Automation, Orchestration, and Scripting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B66"/>
                </a:solidFill>
                <a:latin typeface="Arial"/>
              </a:rPr>
              <a:t>Labs 20–24  ·  objectives 4.1, 4.2, 4.3, 4.4, 4.5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193792"/>
            <a:ext cx="822960" cy="65836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321807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212079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11827"/>
                </a:solidFill>
                <a:latin typeface="Arial"/>
              </a:rPr>
              <a:t>Domain 5 — Troubleshooting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B66"/>
                </a:solidFill>
                <a:latin typeface="Arial"/>
              </a:rPr>
              <a:t>Labs 25–30  ·  objectives 5.1, 5.2, 5.3, 5.4, 5.5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Lesson Plan — 2 Days (9:00 AM – 6:00 PM)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20240"/>
            <a:ext cx="2651760" cy="77724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066544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Day 1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920240"/>
            <a:ext cx="8229600" cy="7772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0440" y="1993392"/>
            <a:ext cx="795527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11827"/>
                </a:solidFill>
                <a:latin typeface="Arial"/>
              </a:rPr>
              <a:t>Domain 1 — System Management (23%) · Domain 2 — Services &amp; User Management (20%)  |  Labs 1–13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816352"/>
            <a:ext cx="2651760" cy="77724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962656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Day 2 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816352"/>
            <a:ext cx="8229600" cy="7772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2889504"/>
            <a:ext cx="795527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11827"/>
                </a:solidFill>
                <a:latin typeface="Arial"/>
              </a:rPr>
              <a:t>Domain 3 — Security (18%) · Domain 4 — Automation, Orchestration &amp; Scripting (17%)  |  Labs 14–24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712464"/>
            <a:ext cx="2651760" cy="77724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58768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Day 2 PM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3712464"/>
            <a:ext cx="8229600" cy="7772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0440" y="3785616"/>
            <a:ext cx="795527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11827"/>
                </a:solidFill>
                <a:latin typeface="Arial"/>
              </a:rPr>
              <a:t>Domain 5 — Troubleshooting (22%) · Capstone  |  Labs 25–30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608576"/>
            <a:ext cx="2651760" cy="77724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7548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Day 2 · 4:00–6:00 PM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4608576"/>
            <a:ext cx="8229600" cy="77724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20440" y="4681728"/>
            <a:ext cx="795527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11827"/>
                </a:solidFill>
                <a:latin typeface="Arial"/>
              </a:rPr>
              <a:t>Final Assessment — Written (SAQ) 1 hr + Practical Performance (PP) 1 hr (Open Book)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55040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B66"/>
                </a:solidFill>
                <a:latin typeface="Arial"/>
              </a:rPr>
              <a:t>Each day = 8 instructional hours (1-hour lunch; tea breaks within). Breaks may compress to make room for the assessment block.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11827"/>
                </a:solidFill>
                <a:latin typeface="Arial"/>
              </a:rPr>
              <a:t>•  The assessment is on Day 2, 4:00 PM – 6:00 PM, and is OPEN BOOK.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11827"/>
                </a:solidFill>
                <a:latin typeface="Arial"/>
              </a:rPr>
              <a:t>•  Written Assessment (SAQ) — 1 hour (4:00–5:00 PM): short-answer knowledge questions.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11827"/>
                </a:solidFill>
                <a:latin typeface="Arial"/>
              </a:rPr>
              <a:t>•  Practical Performance (PP) — 1 hour (5:00–6:00 PM): hands-on lab tasks.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11827"/>
                </a:solidFill>
                <a:latin typeface="Arial"/>
              </a:rPr>
              <a:t>•  Open book = you may use the slides, Learner Guide and approved materials.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11827"/>
                </a:solidFill>
                <a:latin typeface="Arial"/>
              </a:rPr>
              <a:t>•  Flow: TRAQOM survey → Assessment Digital Attendance → Assessment → Submit on LMS → Sign the Assessment Summary Record.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11827"/>
                </a:solidFill>
                <a:latin typeface="Arial"/>
              </a:rPr>
              <a:t>•  If assessed Not Yet Competent, an appeal and re-assessment process is available.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Assessment &amp; Funding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11827"/>
                </a:solidFill>
                <a:latin typeface="Arial"/>
              </a:rPr>
              <a:t>•  Be assessed Competent (C) in BOTH the Written Assessment and the Practical Performance.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11827"/>
                </a:solidFill>
                <a:latin typeface="Arial"/>
              </a:rPr>
              <a:t>•  Attend at least 75% of the course.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11827"/>
                </a:solidFill>
                <a:latin typeface="Arial"/>
              </a:rPr>
              <a:t>•  Complete the TRAQOM survey and sign the Assessment Summary Record.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11827"/>
                </a:solidFill>
                <a:latin typeface="Arial"/>
              </a:rPr>
              <a:t>•  Courseware download and assessment submission are on the LMS: https://lms-tms.tertiaryinfotech.com/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Course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11827"/>
                </a:solidFill>
                <a:latin typeface="Arial"/>
              </a:rPr>
              <a:t>1. Explain core Linux concepts — the boot process, the Filesystem Hierarchy Standard, device management and virtualization — and manage storage, networking and shell operations.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11827"/>
                </a:solidFill>
                <a:latin typeface="Arial"/>
              </a:rPr>
              <a:t>2. Manage files, local user and group accounts, processes and jobs, software packages, systemd services and containerized applications on a Linux server.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11827"/>
                </a:solidFill>
                <a:latin typeface="Arial"/>
              </a:rPr>
              <a:t>3. Apply Linux security: authentication/authorization (sudo, PAM), firewalls, OS and account hardening, cryptography and compliance/audit procedures.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11827"/>
                </a:solidFill>
                <a:latin typeface="Arial"/>
              </a:rPr>
              <a:t>4. Automate administration with Ansible, Bash and Python, apply Git version control, and use AI assistants responsibly and securely.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11827"/>
                </a:solidFill>
                <a:latin typeface="Arial"/>
              </a:rPr>
              <a:t>5. Monitor a Linux system and analyze and troubleshoot hardware, storage, network, security and performance issues using the right diagnostic tools.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3C5CB"/>
                </a:solidFill>
                <a:latin typeface="Arial"/>
              </a:rPr>
              <a:t>DOMAIN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System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832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C9CED6"/>
                </a:solidFill>
                <a:latin typeface="Arial"/>
              </a:rPr>
              <a:t>23% of the exam  ·  Labs 1–7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977639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Arial"/>
              </a:rPr>
              <a:t>1.1   Explain basic Linux concepts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306824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Arial"/>
              </a:rPr>
              <a:t>1.2   Summarize Linux device management concepts and tools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636008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Arial"/>
              </a:rPr>
              <a:t>1.3   Given a scenario, manage storage in a Linux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965192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Arial"/>
              </a:rPr>
              <a:t>1.4   Given a scenario, manage network services and configurations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294376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Arial"/>
              </a:rPr>
              <a:t>1.5   Given a scenario, manage a Linux system using common shell operations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623560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Arial"/>
              </a:rPr>
              <a:t>1.6   Given a scenario, perform backup and restore operations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952744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Arial"/>
              </a:rPr>
              <a:t>1.7   Summarize virtualization on Linux systems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AA1AC"/>
                </a:solidFill>
                <a:latin typeface="Arial"/>
              </a:rPr>
              <a:t>© Tertiary Infotech Academy Pte Ltd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1  ·  Objective 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Boot Process &amp; Filesystem Hierarchy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55B66"/>
                </a:solidFill>
                <a:latin typeface="Arial"/>
              </a:rPr>
              <a:t>Maps to CompTIA Linux+ objective 1.1 — Explain basic Linux concepts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6583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Goal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Inspect a running Linux system's boot configuration, kernel command line, initramfs, and the standard Filesystem Hierarchy to understand how GRUB hands off to the kernel and where FHS directories live.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What you'll do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Identify the distro and kernel, inspect GRUB, the kernel cmdline, and initramfs, then tour the FHS and boot-related directories.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2148840"/>
            <a:ext cx="4114800" cy="35661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79" y="2286000"/>
            <a:ext cx="3749039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11827"/>
                </a:solidFill>
                <a:latin typeface="Arial"/>
              </a:rPr>
              <a:t>KEY COMMANDS &amp; CONCEPTS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/etc/os-release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GRUB2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/proc/cmdline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initramfs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lsinitramfs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FHS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systemd targets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usrmerge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806440"/>
            <a:ext cx="10927080" cy="502920"/>
          </a:xfrm>
          <a:prstGeom prst="rect">
            <a:avLst/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52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b="1" sz="1100">
                <a:solidFill>
                  <a:srgbClr val="0A7A3B"/>
                </a:solidFill>
                <a:latin typeface="Arial"/>
              </a:rPr>
              <a:t>✓ Test it:  </a:t>
            </a:r>
            <a:r>
              <a:rPr sz="1100">
                <a:solidFill>
                  <a:srgbClr val="111827"/>
                </a:solidFill>
                <a:latin typeface="Arial"/>
              </a:rPr>
              <a:t>You can identify the running distro/kernel/arch and explain how GRUB, the kernel cmdline, and initramfs bring up userspace.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1  ·  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Boot Process &amp; Filesystem Hierarchy — Commands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Identify distribution and architecture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10927080" cy="1719072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607040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cat /etc/os-release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uname -a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uname -m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uname -r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hostnamectl 2&gt;/dev/null || true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lsb_release -a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793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Inspect GRUB configuration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36592"/>
            <a:ext cx="10927080" cy="950976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809744"/>
            <a:ext cx="1060704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cat /etc/default/grub 2&gt;/dev/null || true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ls /boot 2&gt;/dev/null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find / -name "grub.cfg" 2&gt;/dev/null | head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B66"/>
                </a:solidFill>
                <a:latin typeface="Arial"/>
              </a:rPr>
              <a:t>Full step-by-step for all steps is in the Learner Guide and the labs/ folder.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2  ·  Objective 1.2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Kernel Modules &amp; Device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55B66"/>
                </a:solidFill>
                <a:latin typeface="Arial"/>
              </a:rPr>
              <a:t>Maps to CompTIA Linux+ objective 1.2 — Summarize Linux device management concepts and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6583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Goal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List, inspect, load, and unload kernel modules and use the standard hardware-enumeration tools to understand modprobe vs insmod, module dependencies, and reading dmesg.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What you'll do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Install discovery tools, inspect and load/unload a module, examine module dependencies, read the kernel ring buffer, and enumerate hardware.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2148840"/>
            <a:ext cx="4114800" cy="35661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79" y="2286000"/>
            <a:ext cx="3749039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11827"/>
                </a:solidFill>
                <a:latin typeface="Arial"/>
              </a:rPr>
              <a:t>KEY COMMANDS &amp; CONCEPTS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lsmod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modinfo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modprobe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insmod/rmmod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depmod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dmesg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lspci/lsusb/lscpu/lsblk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dracut vs mkinitramfs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806440"/>
            <a:ext cx="10927080" cy="502920"/>
          </a:xfrm>
          <a:prstGeom prst="rect">
            <a:avLst/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52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b="1" sz="1100">
                <a:solidFill>
                  <a:srgbClr val="0A7A3B"/>
                </a:solidFill>
                <a:latin typeface="Arial"/>
              </a:rPr>
              <a:t>✓ Test it:  </a:t>
            </a:r>
            <a:r>
              <a:rPr sz="1100">
                <a:solidFill>
                  <a:srgbClr val="111827"/>
                </a:solidFill>
                <a:latin typeface="Arial"/>
              </a:rPr>
              <a:t>You can pick the right ls* tool for a hardware question and explain insmod vs modprobe vs depmod.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2  ·  1.2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Kernel Modules &amp; Device Management — Commands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Install hardware inspection tools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10927080" cy="694944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6070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apt-get update -qq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apt-get install -y pciutils usbutils hwinfo lshw dmidecode kmod &gt;/dev/null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5526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List loaded modules and inspect one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712464"/>
            <a:ext cx="10927080" cy="1207008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785616"/>
            <a:ext cx="10607040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lsmod | head -20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lsmod | wc -l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MOD=$(lsmod | awk 'NR==2 {print $1}')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modinfo "$MOD" | head -20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B66"/>
                </a:solidFill>
                <a:latin typeface="Arial"/>
              </a:rPr>
              <a:t>Full step-by-step for all steps is in the Learner Guide and the labs/ folder.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3  ·  Objective 1.3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Storage with LVM, Partitions &amp; Filesystems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55B66"/>
                </a:solidFill>
                <a:latin typeface="Arial"/>
              </a:rPr>
              <a:t>Maps to CompTIA Linux+ objective 1.3 — Manage storage in a Linux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6583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Goal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Build a complete LVM stack on loopback-backed disks, format with ext4/xfs/btrfs, mount with hardening options, persist in fstab, and grow a filesystem online.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What you'll do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Create loopback disks, partition, build PVs/VG/LVs, make filesystems, mount with hardening options into fstab, then extend an LV and its filesystem live.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2148840"/>
            <a:ext cx="4114800" cy="35661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79" y="2286000"/>
            <a:ext cx="3749039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11827"/>
                </a:solidFill>
                <a:latin typeface="Arial"/>
              </a:rPr>
              <a:t>KEY COMMANDS &amp; CONCEPTS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losetup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parted/GPT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pvcreate/vgcreate/lvcreate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mkfs.ext4/xfs/btrfs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blkid/UUID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/etc/fstab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mount hardening (nodev/nosuid/noexec)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lvextend/resize2fs/xfs_growfs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806440"/>
            <a:ext cx="10927080" cy="502920"/>
          </a:xfrm>
          <a:prstGeom prst="rect">
            <a:avLst/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52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b="1" sz="1100">
                <a:solidFill>
                  <a:srgbClr val="0A7A3B"/>
                </a:solidFill>
                <a:latin typeface="Arial"/>
              </a:rPr>
              <a:t>✓ Test it:  </a:t>
            </a:r>
            <a:r>
              <a:rPr sz="1100">
                <a:solidFill>
                  <a:srgbClr val="111827"/>
                </a:solidFill>
                <a:latin typeface="Arial"/>
              </a:rPr>
              <a:t>You can go from raw block device to a mounted, UUID-referenced, online-expandable filesystem; note XFS grows but cannot shrink.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3  ·  1.3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Storage with LVM, Partitions &amp; Filesystems — Commands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Install tooling and create loopback disks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10927080" cy="1975104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607040" cy="197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apt-get install -y lvm2 xfsprogs btrfs-progs parted util-linux &gt;/dev/null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mkdir -p /lab/disks &amp;&amp; cd /lab/disks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for i in 1 2 3; do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  truncate -s 512M disk${i}.img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  losetup -fP disk${i}.img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done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losetup -a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3542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Partition the first loopback disk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992624"/>
            <a:ext cx="10927080" cy="1463040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065776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LOOP1=$(losetup -j /lab/disks/disk1.img | cut -d: -f1)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parted -s "$LOOP1" mklabel gpt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parted -s "$LOOP1" mkpart primary 1MiB 100%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parted -s "$LOOP1" set 1 lvm on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partprobe "$LOOP1"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B66"/>
                </a:solidFill>
                <a:latin typeface="Arial"/>
              </a:rPr>
              <a:t>Full step-by-step for all steps is in the Learner Guide and the labs/ folder.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4  ·  Objective 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Network Configuration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55B66"/>
                </a:solidFill>
                <a:latin typeface="Arial"/>
              </a:rPr>
              <a:t>Maps to CompTIA Linux+ objective 1.4 — Manage network services and configurations on a Linux server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6583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Goal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Inspect interfaces, addresses, and routes with ip; walk the name-resolution stack; validate a netplan YAML; and use the standard diagnostic toolbox to read a Linux network stack top-to-bottom.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What you'll do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Install network tools, inspect interfaces/routes, walk the resolution stack, run DNS diagnostics, validate netplan, check sockets/connectivity, and capture packets/scan ports.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2148840"/>
            <a:ext cx="4114800" cy="35661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79" y="2286000"/>
            <a:ext cx="3749039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11827"/>
                </a:solidFill>
                <a:latin typeface="Arial"/>
              </a:rPr>
              <a:t>KEY COMMANDS &amp; CONCEPTS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ip -br link/address/route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/etc/nsswitch.conf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/etc/resolv.conf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getent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dig/nslookup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netplan generate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ss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tcpdump/nmap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806440"/>
            <a:ext cx="10927080" cy="502920"/>
          </a:xfrm>
          <a:prstGeom prst="rect">
            <a:avLst/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52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b="1" sz="1100">
                <a:solidFill>
                  <a:srgbClr val="0A7A3B"/>
                </a:solidFill>
                <a:latin typeface="Arial"/>
              </a:rPr>
              <a:t>✓ Test it:  </a:t>
            </a:r>
            <a:r>
              <a:rPr sz="1100">
                <a:solidFill>
                  <a:srgbClr val="111827"/>
                </a:solidFill>
                <a:latin typeface="Arial"/>
              </a:rPr>
              <a:t>You can read the resolution path (nsswitch -&gt; hosts/resolv.conf -&gt; DNS) and pick the right diagnostic: ss, dig/getent, tcpdump, nmap.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4  ·  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Network Configuration — Commands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Install tools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10927080" cy="694944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6070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apt-get update -qq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apt-get install -y iproute2 iputils-ping dnsutils curl mtr-tiny tcpdump traceroute nmap network-manager netplan.io &gt;/dev/null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5526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Interfaces, addresses, routes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712464"/>
            <a:ext cx="10927080" cy="1463040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785616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ip -br link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ip -br address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ip route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ip -6 route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cat /proc/net/dev | head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B66"/>
                </a:solidFill>
                <a:latin typeface="Arial"/>
              </a:rPr>
              <a:t>Full step-by-step for all steps is in the Learner Guide and the labs/ folder.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5  ·  Objective 1.5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Shell Operations &amp; Text Processing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55B66"/>
                </a:solidFill>
                <a:latin typeface="Arial"/>
              </a:rPr>
              <a:t>Maps to CompTIA Linux+ objective 1.5 — Manage a Linux system using common shell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6583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Goal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Work with shell environment variables, login vs interactive startup files, every common redirection form, and the classic text-processing pipeline to assemble non-trivial one-liners.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What you'll do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Explore env vars and PATH, paths and startup files, all redirection operators, then grep/cut/sort/uniq, sed/awk, tr/xargs, and scripted editors.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2148840"/>
            <a:ext cx="4114800" cy="35661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79" y="2286000"/>
            <a:ext cx="3749039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11827"/>
                </a:solidFill>
                <a:latin typeface="Arial"/>
              </a:rPr>
              <a:t>KEY COMMANDS &amp; CONCEPTS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export/env/unset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login vs interactive shells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redirection &gt; &gt;&gt; &lt; &lt;&lt; &lt;&lt;&lt; | tee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grep/cut/sort/uniq/wc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sed/awk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tr/xargs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shell scripting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806440"/>
            <a:ext cx="10927080" cy="502920"/>
          </a:xfrm>
          <a:prstGeom prst="rect">
            <a:avLst/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52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b="1" sz="1100">
                <a:solidFill>
                  <a:srgbClr val="0A7A3B"/>
                </a:solidFill>
                <a:latin typeface="Arial"/>
              </a:rPr>
              <a:t>✓ Test it:  </a:t>
            </a:r>
            <a:r>
              <a:rPr sz="1100">
                <a:solidFill>
                  <a:srgbClr val="111827"/>
                </a:solidFill>
                <a:latin typeface="Arial"/>
              </a:rPr>
              <a:t>You can compose grep/awk/sed/cut/sort/uniq/tr/xargs into ad-hoc pipelines and know which startup file each shell type sources.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5  ·  1.5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Shell Operations &amp; Text Processing — Commands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Environment variables and PATH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10927080" cy="1719072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607040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echo "USER=$USER  HOME=$HOME  SHELL=$SHELL"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echo "PATH=$PATH"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env | head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export LABVAR="hello linux+"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env | grep LABVAR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unset LABVAR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793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Absolute vs relative paths and startup files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36592"/>
            <a:ext cx="10927080" cy="1719072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809744"/>
            <a:ext cx="10607040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mkdir -p /tmp/lab5 &amp;&amp; cd /tmp/lab5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pwd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ls ./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ls ../tmp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cat ~/.bashrc 2&gt;/dev/null | head || echo "no .bashrc"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cat /etc/profile | head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B66"/>
                </a:solidFill>
                <a:latin typeface="Arial"/>
              </a:rPr>
              <a:t>Full step-by-step for all steps is in the Learner Guide and the labs/ folder.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6  ·  Objective 1.6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Backup &amp; Restore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55B66"/>
                </a:solidFill>
                <a:latin typeface="Arial"/>
              </a:rPr>
              <a:t>Maps to CompTIA Linux+ objective 1.6 — Perform backup and restore operations for a Linux server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6583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Goal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Create tar/cpio/dd archives with gzip/bzip2/xz compression, image and recover disks with dd and ddrescue, mirror trees with rsync, and verify integrity with sha256sum.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What you'll do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Make sample data, archive with tar and cpio, dd a disk image, recover a damaged one with ddrescue, mirror with rsync --delete, then verify checksums and read compressed files in place.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2148840"/>
            <a:ext cx="4114800" cy="35661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79" y="2286000"/>
            <a:ext cx="3749039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11827"/>
                </a:solidFill>
                <a:latin typeface="Arial"/>
              </a:rPr>
              <a:t>KEY COMMANDS &amp; CONCEPTS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tar (czf/xzf/tzf)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cpio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dd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ddrescue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rsync --delete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sha256sum -c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zcat/zgrep/gzip -l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gzip/bzip2/xz tradeoffs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806440"/>
            <a:ext cx="10927080" cy="502920"/>
          </a:xfrm>
          <a:prstGeom prst="rect">
            <a:avLst/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52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b="1" sz="1100">
                <a:solidFill>
                  <a:srgbClr val="0A7A3B"/>
                </a:solidFill>
                <a:latin typeface="Arial"/>
              </a:rPr>
              <a:t>✓ Test it:  </a:t>
            </a:r>
            <a:r>
              <a:rPr sz="1100">
                <a:solidFill>
                  <a:srgbClr val="111827"/>
                </a:solidFill>
                <a:latin typeface="Arial"/>
              </a:rPr>
              <a:t>You can choose tar/cpio/dd/ddrescue/rsync appropriately and know sha256sum -c and rsync trailing-slash/--delete semantics.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6  ·  1.6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Backup &amp; Restore — Commands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Install tooling and create sample data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10927080" cy="1975104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607040" cy="197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apt-get install -y tar cpio gzip bzip2 xz-utils rsync gddrescue coreutils &gt;/dev/null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mkdir -p /lab6/src/{etc,logs,docs}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cp -r /etc/hostname /etc/os-release /lab6/src/etc/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for i in 1 2 3 4 5; do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  dd if=/dev/urandom of=/lab6/src/logs/log${i}.bin bs=1K count=20 status=none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done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echo "important document" &gt; /lab6/src/docs/notes.txt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3542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tar with gzip, bzip2, and xz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992624"/>
            <a:ext cx="10927080" cy="1975104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065776"/>
            <a:ext cx="10607040" cy="197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cd /lab6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tar -czvf src.tar.gz  src/ 2&gt;&amp;1 | tail -5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tar -cjvf src.tar.bz2 src/ 2&gt;&amp;1 | tail -2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tar -cJvf src.tar.xz  src/ 2&gt;&amp;1 | tail -2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tar -tzf src.tar.gz | head -5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tar -xzvf src.tar.gz -C restore/ 2&gt;&amp;1 | tail -3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diff -r src restore/src &amp;&amp; echo "restore matches source"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B66"/>
                </a:solidFill>
                <a:latin typeface="Arial"/>
              </a:rPr>
              <a:t>Full step-by-step for all steps is in the Learner Guide and the labs/ folder.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7  ·  Objective 1.7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Virtualization with QEMU/KVM &amp; libvirt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55B66"/>
                </a:solidFill>
                <a:latin typeface="Arial"/>
              </a:rPr>
              <a:t>Maps to CompTIA Linux+ objective 1.7 — Summarize virtualization on Linux 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6583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Goal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Install QEMU and libvirt, manipulate virtual disk images with qemu-img, list libvirt domains/networks with virsh, and boot a tiny guest under QEMU to discuss hypervisors, image formats, snapshots, and network modes.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What you'll do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Install QEMU/libvirt, create and inspect disk images, convert/resize them, take qcow2 snapshots, list libvirt domains/networks, boot a guest under TCG, and review the three network modes.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2148840"/>
            <a:ext cx="4114800" cy="35661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79" y="2286000"/>
            <a:ext cx="3749039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11827"/>
                </a:solidFill>
                <a:latin typeface="Arial"/>
              </a:rPr>
              <a:t>KEY COMMANDS &amp; CONCEPTS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QEMU vs KVM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/dev/kvm vs TCG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qemu-img (qcow2/raw)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qemu-img convert/resize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qcow2 snapshots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virsh list/net-list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bridged/NAT/host-only networks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806440"/>
            <a:ext cx="10927080" cy="502920"/>
          </a:xfrm>
          <a:prstGeom prst="rect">
            <a:avLst/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52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b="1" sz="1100">
                <a:solidFill>
                  <a:srgbClr val="0A7A3B"/>
                </a:solidFill>
                <a:latin typeface="Arial"/>
              </a:rPr>
              <a:t>✓ Test it:  </a:t>
            </a:r>
            <a:r>
              <a:rPr sz="1100">
                <a:solidFill>
                  <a:srgbClr val="111827"/>
                </a:solidFill>
                <a:latin typeface="Arial"/>
              </a:rPr>
              <a:t>You can distinguish QEMU (emulator) from KVM (accelerator), qcow2 from raw, internal vs libvirt snapshots, and the three guest network modes.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7  ·  1.7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Virtualization with QEMU/KVM &amp; libvirt — Commands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Install QEMU and libvirt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10927080" cy="1207008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607040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apt-get install -y qemu-system-x86 qemu-utils libvirt-clients libvirt-daemon-system bridge-utils &gt;/dev/null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ls -l /dev/kvm 2&gt;/dev/null &amp;&amp; echo "KVM available" || echo "KVM NOT available - use TCG"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qemu-system-x86_64 --version | head -1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virsh --version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673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Create and inspect disk images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224528"/>
            <a:ext cx="10927080" cy="1463040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29768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mkdir -p /lab7 &amp;&amp; cd /lab7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qemu-img create -f qcow2 disk.qcow2 1G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qemu-img create -f raw   disk.raw   256M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qemu-img info disk.qcow2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qemu-img info disk.raw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B66"/>
                </a:solidFill>
                <a:latin typeface="Arial"/>
              </a:rPr>
              <a:t>Full step-by-step for all steps is in the Learner Guide and the labs/ folder.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3C5CB"/>
                </a:solidFill>
                <a:latin typeface="Arial"/>
              </a:rPr>
              <a:t>DOMAIN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Services and User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832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C9CED6"/>
                </a:solidFill>
                <a:latin typeface="Arial"/>
              </a:rPr>
              <a:t>20% of the exam  ·  Labs 8–13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977639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Arial"/>
              </a:rPr>
              <a:t>2.1   Given a scenario, manage files and directories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306824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Arial"/>
              </a:rPr>
              <a:t>2.2   Given a scenario, perform local account management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636008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Arial"/>
              </a:rPr>
              <a:t>2.3   Given a scenario, manage processes and jobs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965192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Arial"/>
              </a:rPr>
              <a:t>2.4   Given a scenario, configure and manage software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294376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Arial"/>
              </a:rPr>
              <a:t>2.5   Given a scenario, manage Linux using systemd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623560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Arial"/>
              </a:rPr>
              <a:t>2.6   Given a scenario, manage applications in a container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AA1AC"/>
                </a:solidFill>
                <a:latin typeface="Arial"/>
              </a:rPr>
              <a:t>© Tertiary Infotech Academy Pte Ltd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8  ·  Objective 2.1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File &amp; Directory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55B66"/>
                </a:solidFill>
                <a:latin typeface="Arial"/>
              </a:rPr>
              <a:t>Maps to CompTIA Linux+ objective 2.1 — Manage files and directories on a Linux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6583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Goal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Practice core file and directory operations: navigating, creating, copying, searching, linking, and inspecting special device files with standard Linux utilities.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What you'll do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Create a lab tree, then copy, find, link, diff, and inspect files and /dev device nodes.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2148840"/>
            <a:ext cx="4114800" cy="35661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79" y="2286000"/>
            <a:ext cx="3749039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11827"/>
                </a:solidFill>
                <a:latin typeface="Arial"/>
              </a:rPr>
              <a:t>KEY COMMANDS &amp; CONCEPTS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ls -la / stat / file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find predicates (-name, -mtime, -size)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locate &amp; updatedb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lsof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diff &amp; sdiff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hard vs symbolic links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block/character device files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806440"/>
            <a:ext cx="10927080" cy="502920"/>
          </a:xfrm>
          <a:prstGeom prst="rect">
            <a:avLst/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52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b="1" sz="1100">
                <a:solidFill>
                  <a:srgbClr val="0A7A3B"/>
                </a:solidFill>
                <a:latin typeface="Arial"/>
              </a:rPr>
              <a:t>✓ Test it:  </a:t>
            </a:r>
            <a:r>
              <a:rPr sz="1100">
                <a:solidFill>
                  <a:srgbClr val="111827"/>
                </a:solidFill>
                <a:latin typeface="Arial"/>
              </a:rPr>
              <a:t>ls -li confirms hardlink shares the target's inode while the symlink breaks after the target is removed.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8  ·  2.1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File &amp; Directory Management — Commands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Navigate and list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10927080" cy="1463040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pwd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cd /tmp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mkdir -p lab08/{src,dst,archive}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cd lab08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ls -la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23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Create, copy, move, touch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480560"/>
            <a:ext cx="10927080" cy="1719072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553712"/>
            <a:ext cx="10607040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touch src/file1.txt src/file2.log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echo "hello" &gt; src/file1.txt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cp -a src/file1.txt dst/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mv src/file2.log archive/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stat dst/file1.txt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file dst/file1.txt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B66"/>
                </a:solidFill>
                <a:latin typeface="Arial"/>
              </a:rPr>
              <a:t>Full step-by-step for all steps is in the Learner Guide and the labs/ folder.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9  ·  Objective 2.2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Local Account &amp; Group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55B66"/>
                </a:solidFill>
                <a:latin typeface="Arial"/>
              </a:rPr>
              <a:t>Maps to CompTIA Linux+ objective 2.2 — Perform local account management in a Linux environment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6583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Goal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Create and manage local users and groups, set passwords and aging policies, change shells, and distinguish user, system, and service accounts.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What you'll do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Create users/groups, set passwords and aging, inspect identity databases, then remove the accounts.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2148840"/>
            <a:ext cx="4114800" cy="35661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79" y="2286000"/>
            <a:ext cx="3749039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11827"/>
                </a:solidFill>
                <a:latin typeface="Arial"/>
              </a:rPr>
              <a:t>KEY COMMANDS &amp; CONCEPTS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/etc/passwd, /etc/shadow, /etc/group, /etc/skel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useradd / adduser / usermod -aG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chpasswd, passwd -S, chage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chsh, getent, id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UID&gt;=1000 user vs UID&lt;1000 system vs service (-r)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userdel -r / groupdel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806440"/>
            <a:ext cx="10927080" cy="502920"/>
          </a:xfrm>
          <a:prstGeom prst="rect">
            <a:avLst/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52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b="1" sz="1100">
                <a:solidFill>
                  <a:srgbClr val="0A7A3B"/>
                </a:solidFill>
                <a:latin typeface="Arial"/>
              </a:rPr>
              <a:t>✓ Test it:  </a:t>
            </a:r>
            <a:r>
              <a:rPr sz="1100">
                <a:solidFill>
                  <a:srgbClr val="111827"/>
                </a:solidFill>
                <a:latin typeface="Arial"/>
              </a:rPr>
              <a:t>getent passwd bob returns nothing after userdel -r, confirming the account and home directory are gone.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9  ·  2.2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Local Account &amp; Group Management — Commands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Inspect account databases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10927080" cy="1463040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head -5 /etc/passwd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head -5 /etc/shadow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head -5 /etc/group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ls /etc/skel -la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head -20 /etc/profile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23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Create users and groups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480560"/>
            <a:ext cx="10927080" cy="1719072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553712"/>
            <a:ext cx="10607040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groupadd developers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useradd -m -s /bin/bash -G developers alice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adduser --disabled-password --gecos "" bob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usermod -aG developers bob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id alice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groups bob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B66"/>
                </a:solidFill>
                <a:latin typeface="Arial"/>
              </a:rPr>
              <a:t>Full step-by-step for all steps is in the Learner Guide and the labs/ folder.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10  ·  Objective 2.3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Processes, Jobs &amp; Scheduling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55B66"/>
                </a:solidFill>
                <a:latin typeface="Arial"/>
              </a:rPr>
              <a:t>Maps to CompTIA Linux+ objective 2.3 — Manage processes and jobs in a Linux environment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6583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Goal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Inspect processes, manipulate shell jobs, adjust priorities, send signals, and schedule tasks with at, cron, and anacron.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What you'll do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Examine processes via ps/proc/strace, control background jobs, renice, signal, and schedule jobs.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2148840"/>
            <a:ext cx="4114800" cy="35661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79" y="2286000"/>
            <a:ext cx="3749039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11827"/>
                </a:solidFill>
                <a:latin typeface="Arial"/>
              </a:rPr>
              <a:t>KEY COMMANDS &amp; CONCEPTS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ps auxf / pstree / pidstat / mpstat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/proc/&lt;PID&gt; and lsof -p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process states (R,S,D,Z,T) &amp; strace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jobs: &amp;, Ctrl+Z, bg, fg, nohup, disown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nice / renice priority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kill / pkill / killall signals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at, cron, anacron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806440"/>
            <a:ext cx="10927080" cy="502920"/>
          </a:xfrm>
          <a:prstGeom prst="rect">
            <a:avLst/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52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b="1" sz="1100">
                <a:solidFill>
                  <a:srgbClr val="0A7A3B"/>
                </a:solidFill>
                <a:latin typeface="Arial"/>
              </a:rPr>
              <a:t>✓ Test it:  </a:t>
            </a:r>
            <a:r>
              <a:rPr sz="1100">
                <a:solidFill>
                  <a:srgbClr val="111827"/>
                </a:solidFill>
                <a:latin typeface="Arial"/>
              </a:rPr>
              <a:t>atq lists the queued at job and crontab -l shows the recurring entry, confirming both schedulers accepted the tasks.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10  ·  2.3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Processes, Jobs &amp; Scheduling — Commands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Inspect running processes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10927080" cy="1463040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ps auxf | head -20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pstree -p | head -20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apt update -y &amp;&amp; apt install -y htop sysstat lsof strace at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pidstat 1 3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mpstat 1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23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Explore /proc and lsof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480560"/>
            <a:ext cx="10927080" cy="1719072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553712"/>
            <a:ext cx="10607040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sleep 600 &amp;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SPID=$!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ls /proc/$SPID/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cat /proc/$SPID/status | head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cat /proc/$SPID/cmdline; echo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lsof -p $SPID | head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B66"/>
                </a:solidFill>
                <a:latin typeface="Arial"/>
              </a:rPr>
              <a:t>Full step-by-step for all steps is in the Learner Guide and the labs/ folder.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11  ·  Objective 2.4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Software &amp; Package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55B66"/>
                </a:solidFill>
                <a:latin typeface="Arial"/>
              </a:rPr>
              <a:t>Maps to CompTIA Linux+ objective 2.4 — Configure and manage software in a Linux environment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6583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Goal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Manage Debian packages with apt/dpkg, add a signed third-party repo, run dnf/rpm in a container, and use language and sandboxed package managers.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What you'll do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Install/remove apt packages, add a GPG-signed repo, demo dnf/rpm, then pip/npm/cargo and snap/flatpak.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2148840"/>
            <a:ext cx="4114800" cy="35661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79" y="2286000"/>
            <a:ext cx="3749039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11827"/>
                </a:solidFill>
                <a:latin typeface="Arial"/>
              </a:rPr>
              <a:t>KEY COMMANDS &amp; CONCEPTS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apt update/install/remove/purge/autoremove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apt-cache policy, dpkg -l / -L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signed-by GPG keyrings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dnf / rpm -q / rpm -V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pip, npm -g, cargo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update-alternatives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snap &amp; flatpak sandboxes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806440"/>
            <a:ext cx="10927080" cy="502920"/>
          </a:xfrm>
          <a:prstGeom prst="rect">
            <a:avLst/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52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b="1" sz="1100">
                <a:solidFill>
                  <a:srgbClr val="0A7A3B"/>
                </a:solidFill>
                <a:latin typeface="Arial"/>
              </a:rPr>
              <a:t>✓ Test it:  </a:t>
            </a:r>
            <a:r>
              <a:rPr sz="1100">
                <a:solidFill>
                  <a:srgbClr val="111827"/>
                </a:solidFill>
                <a:latin typeface="Arial"/>
              </a:rPr>
              <a:t>apt-cache policy terraform shows a candidate from the signed HashiCorp repo, confirming the GPG-verified source is trusted.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11  ·  2.4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Software &amp; Package Management — Commands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apt basics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10927080" cy="1463040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apt update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apt install -y tree jq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apt-cache policy jq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dpkg -l | grep -E "tree|jq"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dpkg -L tree | head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23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Add a third-party repo with GPG key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480560"/>
            <a:ext cx="10927080" cy="1719072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553712"/>
            <a:ext cx="10607040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apt install -y curl gnupg lsb-release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install -m 0755 -d /etc/apt/keyrings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curl -fsSL https://apt.releases.hashicorp.com/gpg | gpg --dearmor -o /etc/apt/keyrings/hashicorp.gpg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echo "deb [signed-by=/etc/apt/keyrings/hashicorp.gpg] https://apt.releases.hashicorp.com $(lsb_release -cs) main" &gt; /etc/apt/sources.list.d/hashicorp.list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apt update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apt-cache policy terraform | head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B66"/>
                </a:solidFill>
                <a:latin typeface="Arial"/>
              </a:rPr>
              <a:t>Full step-by-step for all steps is in the Learner Guide and the labs/ folder.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12  ·  Objective 2.5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Service Management with systemd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55B66"/>
                </a:solidFill>
                <a:latin typeface="Arial"/>
              </a:rPr>
              <a:t>Maps to CompTIA Linux+ objective 2.5 — Manage Linux using systemd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6583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Goal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Inspect and control systemd units, author custom service/timer/mount units, analyze boot performance, and configure host/time/DNS via systemd helpers.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What you'll do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Manage nginx, write a service + timer + mount unit, analyze boot time, and set hostname/timezone/DNS.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2148840"/>
            <a:ext cx="4114800" cy="35661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79" y="2286000"/>
            <a:ext cx="3749039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11827"/>
                </a:solidFill>
                <a:latin typeface="Arial"/>
              </a:rPr>
              <a:t>KEY COMMANDS &amp; CONCEPTS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systemctl list-units / list-unit-files / --failed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start/stop/restart/reload, enable/disable, mask/unmask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custom .service (Type=oneshot) + daemon-reload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.timer units (OnUnitActiveSec)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.mount units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systemd-analyze blame / critical-chain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hostnamectl / timedatectl / resolvectl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journalctl -u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806440"/>
            <a:ext cx="10927080" cy="502920"/>
          </a:xfrm>
          <a:prstGeom prst="rect">
            <a:avLst/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52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b="1" sz="1100">
                <a:solidFill>
                  <a:srgbClr val="0A7A3B"/>
                </a:solidFill>
                <a:latin typeface="Arial"/>
              </a:rPr>
              <a:t>✓ Test it:  </a:t>
            </a:r>
            <a:r>
              <a:rPr sz="1100">
                <a:solidFill>
                  <a:srgbClr val="111827"/>
                </a:solidFill>
                <a:latin typeface="Arial"/>
              </a:rPr>
              <a:t>systemctl list-timers shows lab-hello.timer scheduled and journalctl -u lab-hello records each firing, confirming the custom units work.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12  ·  2.5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Service Management with systemd — Commands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List and inspect units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10927080" cy="950976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60704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systemctl list-units --type=service | head -20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systemctl list-unit-files --type=service | head -20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systemctl --failed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511296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Control nginx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968496"/>
            <a:ext cx="10927080" cy="1719072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041648"/>
            <a:ext cx="10607040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apt update -y &amp;&amp; apt install -y nginx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systemctl status nginx --no-pager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systemctl stop nginx; systemctl start nginx; systemctl restart nginx; systemctl reload nginx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systemctl disable nginx; systemctl enable nginx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systemctl mask nginx &amp;&amp; systemctl start nginx 2&gt;&amp;1 | head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systemctl unmask nginx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B66"/>
                </a:solidFill>
                <a:latin typeface="Arial"/>
              </a:rPr>
              <a:t>Full step-by-step for all steps is in the Learner Guide and the labs/ folder.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13  ·  Objective 2.6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Containers with Docker &amp; Podman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55B66"/>
                </a:solidFill>
                <a:latin typeface="Arial"/>
              </a:rPr>
              <a:t>Maps to CompTIA Linux+ objective 2.6 — Manage applications in a container on a Linux server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6583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Goal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Install Docker and Podman, pull/run images, manage volumes and networks, build an image from a Dockerfile, and contrast rootful vs rootless engines.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What you'll do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Run and inspect nginx containers, bind-mount volumes, build an image, wire a user-defined network, and try rootless Podman.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2148840"/>
            <a:ext cx="4114800" cy="35661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79" y="2286000"/>
            <a:ext cx="3749039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11827"/>
                </a:solidFill>
                <a:latin typeface="Arial"/>
              </a:rPr>
              <a:t>KEY COMMANDS &amp; CONCEPTS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docker.io vs podman (daemonless/rootless)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docker pull/run -d -p --name, docker ps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logs / exec -it / inspect / stats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bind-mount volumes (-v host:container:ro)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Dockerfile: FROM/RUN/COPY/USER/ENTRYPOINT/CMD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docker network create (built-in DNS)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rootless Podman &amp; --privileged risks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806440"/>
            <a:ext cx="10927080" cy="502920"/>
          </a:xfrm>
          <a:prstGeom prst="rect">
            <a:avLst/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52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b="1" sz="1100">
                <a:solidFill>
                  <a:srgbClr val="0A7A3B"/>
                </a:solidFill>
                <a:latin typeface="Arial"/>
              </a:rPr>
              <a:t>✓ Test it:  </a:t>
            </a:r>
            <a:r>
              <a:rPr sz="1100">
                <a:solidFill>
                  <a:srgbClr val="111827"/>
                </a:solidFill>
                <a:latin typeface="Arial"/>
              </a:rPr>
              <a:t>curl against the published ports returns 200 and the alpine container reaches http://api by name, confirming containers, volumes, and the user-defined network work.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13  ·  2.6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Containers with Docker &amp; Podman — Commands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Install Docker and Podman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10927080" cy="1463040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apt update -y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apt install -y docker.io podman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systemctl start docker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docker --version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podman --version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23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Pull and run a container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480560"/>
            <a:ext cx="10927080" cy="1463040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553712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docker pull nginx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docker images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docker run -d -p 8080:80 --name web nginx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docker ps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curl -s -o /dev/null -w "%{http_code}\n" http://localhost:8080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B66"/>
                </a:solidFill>
                <a:latin typeface="Arial"/>
              </a:rPr>
              <a:t>Full step-by-step for all steps is in the Learner Guide and the labs/ folder.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3C5CB"/>
                </a:solidFill>
                <a:latin typeface="Arial"/>
              </a:rPr>
              <a:t>DOMAIN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832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C9CED6"/>
                </a:solidFill>
                <a:latin typeface="Arial"/>
              </a:rPr>
              <a:t>18% of the exam  ·  Labs 14–19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977639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Arial"/>
              </a:rPr>
              <a:t>3.1   Summarize authorization, authentication, and accounting methods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306824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Arial"/>
              </a:rPr>
              <a:t>3.2   Given a scenario, configure and implement firewalls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636008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Arial"/>
              </a:rPr>
              <a:t>3.3   Given a scenario, apply OS hardening techniques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965192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Arial"/>
              </a:rPr>
              <a:t>3.4   Explain account hardening techniques and best practices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294376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Arial"/>
              </a:rPr>
              <a:t>3.5   Explain cryptographic concepts and technologies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623560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Arial"/>
              </a:rPr>
              <a:t>3.6   Explain the importance of compliance and audit procedures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AA1AC"/>
                </a:solidFill>
                <a:latin typeface="Arial"/>
              </a:rPr>
              <a:t>© Tertiary Infotech Academy Pte Ltd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14  ·  Objective 3.1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AAA: sudo, PAM, and Polkit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55B66"/>
                </a:solidFill>
                <a:latin typeface="Arial"/>
              </a:rPr>
              <a:t>Maps to CompTIA Linux+ objective 3.1 — Summarize authorization, authentication, and accounting methods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6583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Goal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Configure sudo authorization, inspect PAM authentication stacks, and enable auditd accounting to record security events. Finish with a conceptual look at centralized identity via LDAP, Kerberos, and SSSD.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What you'll do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Install sudo, grant a user privileges, inspect PAM, read auth logs, and enable auditd rules.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2148840"/>
            <a:ext cx="4114800" cy="35661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79" y="2286000"/>
            <a:ext cx="3749039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11827"/>
                </a:solidFill>
                <a:latin typeface="Arial"/>
              </a:rPr>
              <a:t>KEY COMMANDS &amp; CONCEPTS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sudo / visudo / sudoers.d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PAM stacks (auth, account, session)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auditctl / ausearch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journalctl / rsyslog / logrotate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pkexec (Polkit)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SSSD / LDAP / Kerberos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806440"/>
            <a:ext cx="10927080" cy="502920"/>
          </a:xfrm>
          <a:prstGeom prst="rect">
            <a:avLst/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52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b="1" sz="1100">
                <a:solidFill>
                  <a:srgbClr val="0A7A3B"/>
                </a:solidFill>
                <a:latin typeface="Arial"/>
              </a:rPr>
              <a:t>✓ Test it:  </a:t>
            </a:r>
            <a:r>
              <a:rPr sz="1100">
                <a:solidFill>
                  <a:srgbClr val="111827"/>
                </a:solidFill>
                <a:latin typeface="Arial"/>
              </a:rPr>
              <a:t>ausearch -k passwd_changes returns the recorded write event, confirming accounting is active.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14  ·  3.1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AAA: sudo, PAM, and Polkit — Commands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Install sudo and create a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10927080" cy="1207008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607040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apt update &amp;&amp; apt install -y sudo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useradd -m -s /bin/bash alice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echo "alice:Passw0rd!" | chpasswd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id alice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673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Grant sudo via group and drop-in file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224528"/>
            <a:ext cx="10927080" cy="1975104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297680"/>
            <a:ext cx="10607040" cy="197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usermod -aG sudo alice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EDITOR=tee visudo -f /etc/sudoers.d/lab &lt;&lt;'EOF'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alice ALL=(ALL) NOPASSWD: /usr/bin/systemctl status *, /usr/bin/apt update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EOF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chmod 440 /etc/sudoers.d/lab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visudo -c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sudo -l -U alice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B66"/>
                </a:solidFill>
                <a:latin typeface="Arial"/>
              </a:rPr>
              <a:t>Full step-by-step for all steps is in the Learner Guide and the labs/ folder.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15  ·  Objective 3.2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Firewalls: ufw, firewalld, iptables, nftables, ipset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55B66"/>
                </a:solidFill>
                <a:latin typeface="Arial"/>
              </a:rPr>
              <a:t>Maps to CompTIA Linux+ objective 3.2 — Configure and implement firewalls on a Linux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6583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Goal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Configure firewalls at every layer of the Linux netfilter stack, from the ufw wrapper down to iptables and nftables, and understand stateful inspection. Explore zones, rich rules, ipset, and SNAT/DNAT.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What you'll do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Configure ufw, firewalld zones, nftables, ipset, NAT rules, and a stateful conntrack pattern.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2148840"/>
            <a:ext cx="4114800" cy="35661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79" y="2286000"/>
            <a:ext cx="3749039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11827"/>
                </a:solidFill>
                <a:latin typeface="Arial"/>
              </a:rPr>
              <a:t>KEY COMMANDS &amp; CONCEPTS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ufw allow/deny/enable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firewalld zones and rich rules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iptables / nftables chains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ipset hash:ip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SNAT / DNAT / MASQUERADE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conntrack states (NEW/ESTABLISHED/RELATED)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806440"/>
            <a:ext cx="10927080" cy="502920"/>
          </a:xfrm>
          <a:prstGeom prst="rect">
            <a:avLst/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52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b="1" sz="1100">
                <a:solidFill>
                  <a:srgbClr val="0A7A3B"/>
                </a:solidFill>
                <a:latin typeface="Arial"/>
              </a:rPr>
              <a:t>✓ Test it:  </a:t>
            </a:r>
            <a:r>
              <a:rPr sz="1100">
                <a:solidFill>
                  <a:srgbClr val="111827"/>
                </a:solidFill>
                <a:latin typeface="Arial"/>
              </a:rPr>
              <a:t>ufw status and nft list ruleset show the loaded rules; conntrack states drive stateful acceptance.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15  ·  3.2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Firewalls: ufw, firewalld, iptables, nftables, ipset — Commands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Install and configure ufw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10927080" cy="1463040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apt update &amp;&amp; apt install -y ufw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ufw allow 22/tcp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ufw deny 23/tcp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yes | ufw enable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ufw status verbose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23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Explore iptables backing ufw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480560"/>
            <a:ext cx="10927080" cy="694944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553712"/>
            <a:ext cx="106070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iptables -L -n -v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iptables -t nat -L -n -v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B66"/>
                </a:solidFill>
                <a:latin typeface="Arial"/>
              </a:rPr>
              <a:t>Full step-by-step for all steps is in the Learner Guide and the labs/ folder.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16  ·  Objective 3.3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OS Hardening: Permissions, SELinux, SSH, Fail2ban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55B66"/>
                </a:solidFill>
                <a:latin typeface="Arial"/>
              </a:rPr>
              <a:t>Maps to CompTIA Linux+ objective 3.3 — Apply operating system hardening techniques on a Linux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6583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Goal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Apply layered OS hardening from file permissions and immutability through SELinux labeling, then harden OpenSSH and add brute-force protection. Inventory SUID binaries and legacy cleartext services.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What you'll do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Set special permission bits, ACLs, and immutability, demo SELinux, harden SSH, and run fail2ban.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2148840"/>
            <a:ext cx="4114800" cy="35661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79" y="2286000"/>
            <a:ext cx="3749039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11827"/>
                </a:solidFill>
                <a:latin typeface="Arial"/>
              </a:rPr>
              <a:t>KEY COMMANDS &amp; CONCEPTS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chmod setuid/setgid/sticky bit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umask / chattr immutability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POSIX ACLs (setfacl/getfacl)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SELinux chcon/restorecon/audit2allow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OpenSSH hardening (PermitRootLogin)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fail2ban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SUID hunting (find -perm -4000)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806440"/>
            <a:ext cx="10927080" cy="502920"/>
          </a:xfrm>
          <a:prstGeom prst="rect">
            <a:avLst/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52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b="1" sz="1100">
                <a:solidFill>
                  <a:srgbClr val="0A7A3B"/>
                </a:solidFill>
                <a:latin typeface="Arial"/>
              </a:rPr>
              <a:t>✓ Test it:  </a:t>
            </a:r>
            <a:r>
              <a:rPr sz="1100">
                <a:solidFill>
                  <a:srgbClr val="111827"/>
                </a:solidFill>
                <a:latin typeface="Arial"/>
              </a:rPr>
              <a:t>fail2ban-client status sshd shows the active jail and sshd -t confirms the hardened config is valid.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16  ·  3.3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OS Hardening: Permissions, SELinux, SSH, Fail2ban — Commands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chmod, chown, special bits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10927080" cy="1975104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607040" cy="197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useradd -m alice 2&gt;/dev/null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mkdir -p /srv/lab &amp;&amp; cd /srv/lab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cat &gt;run.sh &lt;&lt;'EOF'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#!/bin/bash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id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EOF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chmod 750 run.sh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3542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umask, chattr, lsattr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992624"/>
            <a:ext cx="10927080" cy="1463040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065776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umask 027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touch /srv/lab/newfile &amp;&amp; ls -l /srv/lab/newfile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chattr +i /etc/resolv.conf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lsattr /etc/resolv.conf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chattr -i /etc/resolv.conf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B66"/>
                </a:solidFill>
                <a:latin typeface="Arial"/>
              </a:rPr>
              <a:t>Full step-by-step for all steps is in the Learner Guide and the labs/ folder.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17  ·  Objective 3.4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Account Hardening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55B66"/>
                </a:solidFill>
                <a:latin typeface="Arial"/>
              </a:rPr>
              <a:t>Maps to CompTIA Linux+ objective 3.4 — Explain account hardening techniques and best practices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6583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Goal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Harden user accounts through password quality and aging policies, brute-force lockouts, and restricted or non-interactive shells. Explore TOTP MFA and Have I Been Pwned k-anonymity lookups.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What you'll do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Tune login.defs, enforce pwquality, set aging with chage, add pam_faillock, and lock down shells.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2148840"/>
            <a:ext cx="4114800" cy="35661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79" y="2286000"/>
            <a:ext cx="3749039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11827"/>
                </a:solidFill>
                <a:latin typeface="Arial"/>
              </a:rPr>
              <a:t>KEY COMMANDS &amp; CONCEPTS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/etc/login.defs (PASS_MAX_DAYS)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pam_pwquality / pwscore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chage aging, passwd -l/-u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pam_faillock lockout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nologin / rbash restricted shells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Google Authenticator TOTP MFA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HIBP k-anonymity API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806440"/>
            <a:ext cx="10927080" cy="502920"/>
          </a:xfrm>
          <a:prstGeom prst="rect">
            <a:avLst/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52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b="1" sz="1100">
                <a:solidFill>
                  <a:srgbClr val="0A7A3B"/>
                </a:solidFill>
                <a:latin typeface="Arial"/>
              </a:rPr>
              <a:t>✓ Test it:  </a:t>
            </a:r>
            <a:r>
              <a:rPr sz="1100">
                <a:solidFill>
                  <a:srgbClr val="111827"/>
                </a:solidFill>
                <a:latin typeface="Arial"/>
              </a:rPr>
              <a:t>chage -l alice and passwd -S alice confirm aging and lock state; the HIBP query flags breached passwords.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17  ·  3.4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Account Hardening — Commands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login.defs and a test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10927080" cy="1719072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607040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apt update &amp;&amp; apt install -y libpam-pwquality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useradd -m -s /bin/bash alice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echo "alice:Passw0rd!" | chpasswd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sed -i 's/^PASS_MAX_DAYS.*/PASS_MAX_DAYS   90/' /etc/login.defs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sed -i 's/^PASS_MIN_DAYS.*/PASS_MIN_DAYS   1/' /etc/login.defs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grep -E '^PASS_' /etc/login.defs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793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Password quality with pwquality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36592"/>
            <a:ext cx="10927080" cy="1975104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809744"/>
            <a:ext cx="10607040" cy="197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cat &gt;/etc/security/pwquality.conf &lt;&lt;'EOF'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minlen = 14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dcredit = -1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ucredit = -1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lcredit = -1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ocredit = -1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retry =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B66"/>
                </a:solidFill>
                <a:latin typeface="Arial"/>
              </a:rPr>
              <a:t>Full step-by-step for all steps is in the Learner Guide and the labs/ folder.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18  ·  Objective 3.5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Cryptography: GPG, LUKS, OpenSSL, WireGuard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55B66"/>
                </a:solidFill>
                <a:latin typeface="Arial"/>
              </a:rPr>
              <a:t>Maps to CompTIA Linux+ objective 3.5 — Explain cryptographic concepts and technologies in a Linux environment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6583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Goal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Practice core Linux cryptography: GPG key generation and signing, LUKS2 disk encryption, OpenSSL certificates, hashing and HMAC, and WireGuard keys. Learn to identify weak TLS versions and ciphers.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What you'll do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Generate GPG keys, encrypt/sign, build a LUKS2 volume, create an OpenSSL cert, and make WireGuard keys.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2148840"/>
            <a:ext cx="4114800" cy="35661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79" y="2286000"/>
            <a:ext cx="3749039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11827"/>
                </a:solidFill>
                <a:latin typeface="Arial"/>
              </a:rPr>
              <a:t>KEY COMMANDS &amp; CONCEPTS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GPG batch key generation, encrypt/sign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LUKS2 (cryptsetup, loopback)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OpenSSL genrsa / req -x509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hashing vs HMAC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WireGuard Curve25519 keys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TLS version/cipher inspection (s_client)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806440"/>
            <a:ext cx="10927080" cy="502920"/>
          </a:xfrm>
          <a:prstGeom prst="rect">
            <a:avLst/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52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b="1" sz="1100">
                <a:solidFill>
                  <a:srgbClr val="0A7A3B"/>
                </a:solidFill>
                <a:latin typeface="Arial"/>
              </a:rPr>
              <a:t>✓ Test it:  </a:t>
            </a:r>
            <a:r>
              <a:rPr sz="1100">
                <a:solidFill>
                  <a:srgbClr val="111827"/>
                </a:solidFill>
                <a:latin typeface="Arial"/>
              </a:rPr>
              <a:t>gpg --verify confirms the signature and gpg -d recovers plaintext; the LUKS volume mounts only with the passphrase.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18  ·  3.5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Cryptography: GPG, LUKS, OpenSSL, WireGuard — Commands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GPG key generation in batch mode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10927080" cy="1975104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607040" cy="197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apt update &amp;&amp; apt install -y gnupg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mkdir -p /root/.gnupg &amp;&amp; chmod 700 /root/.gnupg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cat &gt;/tmp/gpgparams &lt;&lt;'EOF'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%no-protection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Key-Type: RSA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Key-Length: 4096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Name-Real: Lab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3542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Encrypt, decrypt, and detached-sign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992624"/>
            <a:ext cx="10927080" cy="1463040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065776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echo "top secret payload" &gt; /tmp/msg.txt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gpg --yes --trust-model always -r lab@example.com -e /tmp/msg.txt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gpg --yes -d /tmp/msg.txt.gpg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gpg --yes --detach-sign /tmp/msg.txt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gpg --verify /tmp/msg.txt.sig /tmp/msg.txt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B66"/>
                </a:solidFill>
                <a:latin typeface="Arial"/>
              </a:rPr>
              <a:t>Full step-by-step for all steps is in the Learner Guide and the labs/ folder.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19  ·  Objective 3.6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Compliance, Auditing, and File Integrity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55B66"/>
                </a:solidFill>
                <a:latin typeface="Arial"/>
              </a:rPr>
              <a:t>Maps to CompTIA Linux+ objective 3.6 — Explain the importance of compliance and audit procedures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6583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Goal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Establish file-integrity monitoring and run compliance and audit tooling to detect tampering, rootkits, and misconfigurations. Cover secure deletion, login banners, and OpenSCAP/CIS benchmarks.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What you'll do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Baseline files with AIDE, scan with rkhunter/lynis/nmap, verify packages, and set banners.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2148840"/>
            <a:ext cx="4114800" cy="35661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79" y="2286000"/>
            <a:ext cx="3749039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11827"/>
                </a:solidFill>
                <a:latin typeface="Arial"/>
              </a:rPr>
              <a:t>KEY COMMANDS &amp; CONCEPTS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AIDE file-integrity baseline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rkhunter rootkit scan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debsums / rpm -V package verification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lynis system audit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nmap -sV service detection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shred secure deletion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OpenSCAP / CIS benchmarks / banners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806440"/>
            <a:ext cx="10927080" cy="502920"/>
          </a:xfrm>
          <a:prstGeom prst="rect">
            <a:avLst/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52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b="1" sz="1100">
                <a:solidFill>
                  <a:srgbClr val="0A7A3B"/>
                </a:solidFill>
                <a:latin typeface="Arial"/>
              </a:rPr>
              <a:t>✓ Test it:  </a:t>
            </a:r>
            <a:r>
              <a:rPr sz="1100">
                <a:solidFill>
                  <a:srgbClr val="111827"/>
                </a:solidFill>
                <a:latin typeface="Arial"/>
              </a:rPr>
              <a:t>aide --check flags the tampered /etc/hostname, proving the integrity baseline detects unauthorized change.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19  ·  3.6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Compliance, Auditing, and File Integrity — Commands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AIDE baseline and tamper check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10927080" cy="1463040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apt update &amp;&amp; apt install -y aide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aideinit -y -f 2&gt;/dev/null || aide --init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mv /var/lib/aide/aide.db.new /var/lib/aide/aide.db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echo "tampered" &gt;&gt; /etc/hostname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aide --check | head -n 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23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Rootkit hunting with rkhunter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480560"/>
            <a:ext cx="10927080" cy="1207008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553712"/>
            <a:ext cx="10607040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apt install -y rkhunter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rkhunter --update || true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rkhunter --propupd -q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rkhunter --check --sk --rwo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B66"/>
                </a:solidFill>
                <a:latin typeface="Arial"/>
              </a:rPr>
              <a:t>Full step-by-step for all steps is in the Learner Guide and the labs/ folder.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3C5CB"/>
                </a:solidFill>
                <a:latin typeface="Arial"/>
              </a:rPr>
              <a:t>DOMAIN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Automation, Orchestration, and Scripting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832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C9CED6"/>
                </a:solidFill>
                <a:latin typeface="Arial"/>
              </a:rPr>
              <a:t>17% of the exam  ·  Labs 20–24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977639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Arial"/>
              </a:rPr>
              <a:t>4.1   Summarize automation and orchestration use cases and techniques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306824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Arial"/>
              </a:rPr>
              <a:t>4.2   Given a scenario, perform automated tasks using shell scripting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636008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Arial"/>
              </a:rPr>
              <a:t>4.3   Summarize Python basics used for Linux system administration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965192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Arial"/>
              </a:rPr>
              <a:t>4.4   Given a scenario, implement version control using Git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294376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Arial"/>
              </a:rPr>
              <a:t>4.5   Summarize best practices and responsible uses of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AA1AC"/>
                </a:solidFill>
                <a:latin typeface="Arial"/>
              </a:rPr>
              <a:t>© Tertiary Infotech Academy Pte Ltd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20  ·  Objective 4.1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Infrastructure as Code with Ansible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55B66"/>
                </a:solidFill>
                <a:latin typeface="Arial"/>
              </a:rPr>
              <a:t>Maps to CompTIA Linux+ objective 4.1 — Summarize the use cases and techniques of automation and orchestration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6583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Goal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Learn Infrastructure as Code using Ansible as the primary agentless configuration management tool, and recognize the wider IaC ecosystem (Puppet, OpenTofu, cloud-init, Kubernetes ConfigMaps). Build an idempotent playbook that deploys and configures nginx.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What you'll do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Install Ansible, write an inventory, run ad-hoc commands, and author an idempotent playbook with variables, templates, and handlers.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2148840"/>
            <a:ext cx="4114800" cy="35661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79" y="2286000"/>
            <a:ext cx="3749039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11827"/>
                </a:solidFill>
                <a:latin typeface="Arial"/>
              </a:rPr>
              <a:t>KEY COMMANDS &amp; CONCEPTS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Ansible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inventory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playbook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idempotency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handlers/templates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ansible-galaxy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GitOps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cloud-init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806440"/>
            <a:ext cx="10927080" cy="502920"/>
          </a:xfrm>
          <a:prstGeom prst="rect">
            <a:avLst/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52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b="1" sz="1100">
                <a:solidFill>
                  <a:srgbClr val="0A7A3B"/>
                </a:solidFill>
                <a:latin typeface="Arial"/>
              </a:rPr>
              <a:t>✓ Test it:  </a:t>
            </a:r>
            <a:r>
              <a:rPr sz="1100">
                <a:solidFill>
                  <a:srgbClr val="111827"/>
                </a:solidFill>
                <a:latin typeface="Arial"/>
              </a:rPr>
              <a:t>Idempotent playbooks converge state without unnecessary restarts; Ansible, Puppet, OpenTofu, cloud-init, and ConfigMaps each occupy a distinct IaC niche.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20  ·  4.1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Infrastructure as Code with Ansible — Commands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Install Ansible and prepare workspace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10927080" cy="1207008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607040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apt update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apt install -y ansible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mkdir -p /root/lab &amp;&amp; cd /root/lab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ansible --version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673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Create inventory pointing at localhost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224528"/>
            <a:ext cx="10927080" cy="1719072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297680"/>
            <a:ext cx="10607040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cat &gt; /root/lab/inventory.ini &lt;&lt;'EOF'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[web]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localhost ansible_connection=local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EOF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ansible -i /root/lab/inventory.ini all -m ping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B66"/>
                </a:solidFill>
                <a:latin typeface="Arial"/>
              </a:rPr>
              <a:t>Full step-by-step for all steps is in the Learner Guide and the labs/ folder.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21  ·  Objective 4.2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Bash Scripting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55B66"/>
                </a:solidFill>
                <a:latin typeface="Arial"/>
              </a:rPr>
              <a:t>Maps to CompTIA Linux+ objective 4.2 — Perform automated tasks using shell scripting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6583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Goal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Practice core Bash scripting constructs (variables, conditionals, loops, functions, option parsing, regex, file tests) and assemble a defensive backup script, then audit it with shellcheck.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What you'll do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Write a series of Bash scripts exercising each language feature, build a real /etc backup script, and lint everything with shellcheck.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2148840"/>
            <a:ext cx="4114800" cy="35661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79" y="2286000"/>
            <a:ext cx="3749039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11827"/>
                </a:solidFill>
                <a:latin typeface="Arial"/>
              </a:rPr>
              <a:t>KEY COMMANDS &amp; CONCEPTS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shebang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parameter expansion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arrays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test operators [[ ]]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getopts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IFS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set -euo pipefail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shellcheck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806440"/>
            <a:ext cx="10927080" cy="502920"/>
          </a:xfrm>
          <a:prstGeom prst="rect">
            <a:avLst/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52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b="1" sz="1100">
                <a:solidFill>
                  <a:srgbClr val="0A7A3B"/>
                </a:solidFill>
                <a:latin typeface="Arial"/>
              </a:rPr>
              <a:t>✓ Test it:  </a:t>
            </a:r>
            <a:r>
              <a:rPr sz="1100">
                <a:solidFill>
                  <a:srgbClr val="111827"/>
                </a:solidFill>
                <a:latin typeface="Arial"/>
              </a:rPr>
              <a:t>A robust script uses set -euo pipefail, quotes variables, and passes shellcheck cleanly.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21  ·  4.2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Bash Scripting — Commands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Set up a scripts directory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10927080" cy="950976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60704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mkdir -p /root/scripts &amp;&amp; cd /root/scripts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apt update &amp;&amp; apt install -y shellcheck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bash --version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511296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Variables, command substitution, parameter expansion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968496"/>
            <a:ext cx="10927080" cy="1975104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041648"/>
            <a:ext cx="10607040" cy="197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cat &gt; /root/scripts/basics.sh &lt;&lt;'EOF'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#!/usr/bin/env bash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name="Linux+"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today=$(date +%F)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greeting="${1:-hello}"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echo "$greeting $name on $today"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B66"/>
                </a:solidFill>
                <a:latin typeface="Arial"/>
              </a:rPr>
              <a:t>Full step-by-step for all steps is in the Learner Guide and the labs/ folder.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22  ·  Objective 4.3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Python for System Administration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55B66"/>
                </a:solidFill>
                <a:latin typeface="Arial"/>
              </a:rPr>
              <a:t>Maps to CompTIA Linux+ objective 4.3 — Summarize Python basics used for Linux system administration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6583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Goal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Use Python for common Linux admin tasks: create a virtual environment, exercise core data types, walk the filesystem, parse JSON, call a REST API with requests, and enforce PEP 8 with black and flake8.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What you'll do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Set up a venv, write scripts covering data types, os.walk, JSON parsing, and HTTP requests, then organize code into a package and lint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2148840"/>
            <a:ext cx="4114800" cy="35661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79" y="2286000"/>
            <a:ext cx="3749039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11827"/>
                </a:solidFill>
                <a:latin typeface="Arial"/>
              </a:rPr>
              <a:t>KEY COMMANDS &amp; CONCEPTS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venv/pip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core types (bool/int/float/str/list/dict)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type hints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os.walk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json module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requests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black/flake8/PEP 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806440"/>
            <a:ext cx="10927080" cy="502920"/>
          </a:xfrm>
          <a:prstGeom prst="rect">
            <a:avLst/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52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b="1" sz="1100">
                <a:solidFill>
                  <a:srgbClr val="0A7A3B"/>
                </a:solidFill>
                <a:latin typeface="Arial"/>
              </a:rPr>
              <a:t>✓ Test it:  </a:t>
            </a:r>
            <a:r>
              <a:rPr sz="1100">
                <a:solidFill>
                  <a:srgbClr val="111827"/>
                </a:solidFill>
                <a:latin typeface="Arial"/>
              </a:rPr>
              <a:t>A venv isolates dependencies, requests loudly fails on bad HTTP, and black+flake8 enforce PEP 8 automatically.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22  ·  4.3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Python for System Administration — Commands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Check Python and create a virtual environment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10927080" cy="1719072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607040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python3 --version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apt update &amp;&amp; apt install -y python3-venv python3-pip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python3 -m venv ~/lab-venv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source ~/lab-venv/bin/activate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which python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pip install --upgrade pip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793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Install dependencies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36592"/>
            <a:ext cx="10927080" cy="950976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809744"/>
            <a:ext cx="1060704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pip install requests black flake8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pip list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mkdir -p ~/pylab &amp;&amp; cd ~/pylab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B66"/>
                </a:solidFill>
                <a:latin typeface="Arial"/>
              </a:rPr>
              <a:t>Full step-by-step for all steps is in the Learner Guide and the labs/ folder.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23  ·  Objective 4.4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Git Version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55B66"/>
                </a:solidFill>
                <a:latin typeface="Arial"/>
              </a:rPr>
              <a:t>Maps to CompTIA Linux+ objective 4.4 — Implement version control using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6583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Goal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Work through Git end to end: init, commit, branch, merge, resolve conflicts, stash, tag, rewrite history with reset and rebase, and push/pull against a local bare remote.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What you'll do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Create a working repo and a bare origin repo, then practice the full Git workflow from first commit through conflict resolution, rebasing, and remote push/pull.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2148840"/>
            <a:ext cx="4114800" cy="35661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79" y="2286000"/>
            <a:ext cx="3749039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11827"/>
                </a:solidFill>
                <a:latin typeface="Arial"/>
              </a:rPr>
              <a:t>KEY COMMANDS &amp; CONCEPTS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git init/config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branch/merge --no-ff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conflict resolution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stash/tag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reset --soft/rebase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bare remote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push/pull --rebase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.gitignore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806440"/>
            <a:ext cx="10927080" cy="502920"/>
          </a:xfrm>
          <a:prstGeom prst="rect">
            <a:avLst/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52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b="1" sz="1100">
                <a:solidFill>
                  <a:srgbClr val="0A7A3B"/>
                </a:solidFill>
                <a:latin typeface="Arial"/>
              </a:rPr>
              <a:t>✓ Test it:  </a:t>
            </a:r>
            <a:r>
              <a:rPr sz="1100">
                <a:solidFill>
                  <a:srgbClr val="111827"/>
                </a:solidFill>
                <a:latin typeface="Arial"/>
              </a:rPr>
              <a:t>Git tracks history through commits and branches; merge/rebase integrate work and pull --rebase keeps a linear remote history.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23  ·  4.4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Git Version Control — Commands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Install Git and set identity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10927080" cy="1463040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apt update &amp;&amp; apt install -y git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git config --global user.name  "Linux Plus Learner"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git config --global user.email "learner@example.com"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git config --global init.defaultBranch main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git config --global --list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23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Initialise a repo and make the first commit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480560"/>
            <a:ext cx="10927080" cy="1975104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553712"/>
            <a:ext cx="10607040" cy="197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mkdir -p /root/lab &amp;&amp; cd /root/lab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git init lab &amp;&amp; cd lab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cat &gt; README.md &lt;&lt;'EOF'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# Lab repo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EOF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cat &gt; .gitignore &lt;&lt;'EOF'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*.log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B66"/>
                </a:solidFill>
                <a:latin typeface="Arial"/>
              </a:rPr>
              <a:t>Full step-by-step for all steps is in the Learner Guide and the labs/ folder.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24  ·  Objective 4.5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Responsible AI Use for Linux Administrators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55B66"/>
                </a:solidFill>
                <a:latin typeface="Arial"/>
              </a:rPr>
              <a:t>Maps to CompTIA Linux+ objective 4.5 — Summarize best practices and responsible uses of artificial intelligence (AI)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6583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Goal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Adopt a verify-before-paste workflow for AI-generated Linux commands: redact secrets before sending prompts to hosted models, lint and sandbox suggestions, weigh local vs hosted models, and draft a corporate AI usage policy.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What you'll do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Build a verification workspace, redact secrets in prompts, shellcheck and sandbox an AI-suggested command, and author a verification checklist plus an AI usage policy.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2148840"/>
            <a:ext cx="4114800" cy="35661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79" y="2286000"/>
            <a:ext cx="3749039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11827"/>
                </a:solidFill>
                <a:latin typeface="Arial"/>
              </a:rPr>
              <a:t>KEY COMMANDS &amp; CONCEPTS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verify-before-paste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secret redaction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local vs hosted LLMs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shellcheck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API key via env var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AI usage policy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data governance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attribution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806440"/>
            <a:ext cx="10927080" cy="502920"/>
          </a:xfrm>
          <a:prstGeom prst="rect">
            <a:avLst/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52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b="1" sz="1100">
                <a:solidFill>
                  <a:srgbClr val="0A7A3B"/>
                </a:solidFill>
                <a:latin typeface="Arial"/>
              </a:rPr>
              <a:t>✓ Test it:  </a:t>
            </a:r>
            <a:r>
              <a:rPr sz="1100">
                <a:solidFill>
                  <a:srgbClr val="111827"/>
                </a:solidFill>
                <a:latin typeface="Arial"/>
              </a:rPr>
              <a:t>Always verify before paste: redact secrets, shellcheck, sandbox, then run; choose local vs hosted models per policy.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24  ·  4.5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Responsible AI Use for Linux Administrators — Commands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Set up a verification workspace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10927080" cy="950976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60704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apt update &amp;&amp; apt install -y shellcheck jq curl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mkdir -p /root/ai-lab &amp;&amp; cd /root/ai-lab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shellcheck --version | head 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511296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Try a local LLM (optional)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968496"/>
            <a:ext cx="10927080" cy="1463040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041648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curl -fsSL https://ollama.com/install.sh | sh || echo "Ollama install skipped"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(ollama serve &gt;/tmp/ollama.log 2&gt;&amp;1 &amp;) ; sleep 2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ollama pull tinyllama 2&gt;/dev/null &amp;&amp; \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  ollama run tinyllama "Write a one-line bash command to list the 5 largest files in /var/log" \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  || echo "Local model unavailable; continue with the placeholder API workflow."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B66"/>
                </a:solidFill>
                <a:latin typeface="Arial"/>
              </a:rPr>
              <a:t>Full step-by-step for all steps is in the Learner Guide and the labs/ folder.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3C5CB"/>
                </a:solidFill>
                <a:latin typeface="Arial"/>
              </a:rPr>
              <a:t>DOMAIN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Troubleshooting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832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C9CED6"/>
                </a:solidFill>
                <a:latin typeface="Arial"/>
              </a:rPr>
              <a:t>22% of the exam  ·  Labs 25–30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977639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Arial"/>
              </a:rPr>
              <a:t>5.1   Summarize monitoring concepts and configurations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306824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Arial"/>
              </a:rPr>
              <a:t>5.2   Given a scenario, troubleshoot hardware, storage, and OS issues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636008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Arial"/>
              </a:rPr>
              <a:t>5.3   Given a scenario, troubleshoot networking issues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965192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Arial"/>
              </a:rPr>
              <a:t>5.4   Given a scenario, troubleshoot security issues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294376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Arial"/>
              </a:rPr>
              <a:t>5.5   Given a scenario, troubleshoot performance issues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AA1AC"/>
                </a:solidFill>
                <a:latin typeface="Arial"/>
              </a:rPr>
              <a:t>© Tertiary Infotech Academy Pte Ltd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25  ·  Objective 5.1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Monitoring Concepts and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55B66"/>
                </a:solidFill>
                <a:latin typeface="Arial"/>
              </a:rPr>
              <a:t>Maps to CompTIA Linux+ objective 5.1 — Summarize monitoring concepts and configurations in a Linux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6583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Goal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Learn the monitoring vocabulary (SLA/SLO/SLI) and stand up a working monitoring stack to produce metrics, alerts, webhooks, health checks, and aggregated logs.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What you'll do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Install SNMP, node_exporter, Prometheus and Alertmanager, then write and validate alert rules, test webhooks, and inspect journald logs.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2148840"/>
            <a:ext cx="4114800" cy="35661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79" y="2286000"/>
            <a:ext cx="3749039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11827"/>
                </a:solidFill>
                <a:latin typeface="Arial"/>
              </a:rPr>
              <a:t>KEY COMMANDS &amp; CONCEPTS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SLA vs SLO vs SLI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SNMP OID/MIB walk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Prometheus scrape config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node_exporter metrics endpoint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promtool check rules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webhook alerting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curl health checks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journalctl log aggregation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806440"/>
            <a:ext cx="10927080" cy="502920"/>
          </a:xfrm>
          <a:prstGeom prst="rect">
            <a:avLst/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52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b="1" sz="1100">
                <a:solidFill>
                  <a:srgbClr val="0A7A3B"/>
                </a:solidFill>
                <a:latin typeface="Arial"/>
              </a:rPr>
              <a:t>✓ Test it:  </a:t>
            </a:r>
            <a:r>
              <a:rPr sz="1100">
                <a:solidFill>
                  <a:srgbClr val="111827"/>
                </a:solidFill>
                <a:latin typeface="Arial"/>
              </a:rPr>
              <a:t>node_exporter, Prometheus, and its health/ready endpoints all respond, and promtool confirms the alert rule is valid.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25  ·  5.1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Monitoring Concepts and Tools — Commands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Install SNMP and walk the system MIB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10927080" cy="1207008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607040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apt update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apt install -y snmpd snmp snmp-mibs-downloader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systemctl enable --now snmpd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snmpwalk -v 2c -c public localhost 1.3.6.1.2.1.1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673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Install and probe node_exporter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224528"/>
            <a:ext cx="10927080" cy="1207008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297680"/>
            <a:ext cx="10607040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apt install -y prometheus-node-exporter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systemctl enable --now prometheus-node-exporter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ss -tlnp | grep 9100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curl -s http://localhost:9100/metrics | head -n 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B66"/>
                </a:solidFill>
                <a:latin typeface="Arial"/>
              </a:rPr>
              <a:t>Full step-by-step for all steps is in the Learner Guide and the labs/ folder.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26  ·  Objective 5.2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Troubleshooting Hardware, Storage, and OS Issues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55B66"/>
                </a:solidFill>
                <a:latin typeface="Arial"/>
              </a:rPr>
              <a:t>Maps to CompTIA Linux+ objective 5.2 — Analyze and troubleshoot hardware, storage, and Linux OS issues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6583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Goal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Deliberately inject common OS and storage failures then diagnose and repair each, keeping every breakage contained to loopback devices, throwaway units, or subshells.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What you'll do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Reproduce a full filesystem, inode exhaustion, GRUB validation, a runaway CPU process, a failed systemd unit, a broken PATH, and a memory leak, then fix them.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2148840"/>
            <a:ext cx="4114800" cy="35661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79" y="2286000"/>
            <a:ext cx="3749039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11827"/>
                </a:solidFill>
                <a:latin typeface="Arial"/>
              </a:rPr>
              <a:t>KEY COMMANDS &amp; CONCEPTS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ENOSPC / df -h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inode exhaustion / df -i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grub-mkconfig validation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runaway process / top -bn1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failed systemd unit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broken PATH recovery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memory leak / ps rss / free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806440"/>
            <a:ext cx="10927080" cy="502920"/>
          </a:xfrm>
          <a:prstGeom prst="rect">
            <a:avLst/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52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b="1" sz="1100">
                <a:solidFill>
                  <a:srgbClr val="0A7A3B"/>
                </a:solidFill>
                <a:latin typeface="Arial"/>
              </a:rPr>
              <a:t>✓ Test it:  </a:t>
            </a:r>
            <a:r>
              <a:rPr sz="1100">
                <a:solidFill>
                  <a:srgbClr val="111827"/>
                </a:solidFill>
                <a:latin typeface="Arial"/>
              </a:rPr>
              <a:t>Each fault is confirmed by the right counter (df, df -i, top, systemctl status, ps rss) and reversed cleanly without touching the host.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26  ·  5.2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Troubleshooting Hardware, Storage, and OS Issues — Commands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Break: fill a filesystem (ENOSPC)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10927080" cy="1975104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607040" cy="197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mkdir -p /mnt/tinyfs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dd if=/dev/zero of=/tmp/tiny.img bs=1M count=64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mkfs.ext4 -F /tmp/tiny.img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mount -o loop /tmp/tiny.img /mnt/tinyfs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dd if=/dev/zero of=/mnt/tinyfs/fill bs=1M count=200 || echo "ENOSPC as expected"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df -h /mnt/tinyfs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du -shx /mnt/tinyfs/* | sort -h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3542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Break: inode exhaustion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992624"/>
            <a:ext cx="10927080" cy="1719072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065776"/>
            <a:ext cx="10607040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df -i /mnt/tinyfs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mkdir /mnt/tinyfs/many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(cd /mnt/tinyfs/many &amp;&amp; for i in $(seq 1 20000); do : &gt; f$i 2&gt;/dev/null || break; done)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df -i /mnt/tinyfs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rm -rf /mnt/tinyfs/many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df -i /mnt/tinyfs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B66"/>
                </a:solidFill>
                <a:latin typeface="Arial"/>
              </a:rPr>
              <a:t>Full step-by-step for all steps is in the Learner Guide and the labs/ folder.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27  ·  Objective 5.3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Troubleshooting Network Connectivity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55B66"/>
                </a:solidFill>
                <a:latin typeface="Arial"/>
              </a:rPr>
              <a:t>Maps to CompTIA Linux+ objective 5.3 — Analyze and troubleshoot networking issues on a Linux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6583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Goal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Break and repair the common network faults (DNS, routing, firewall, MTU, IP, link, dual-stack) while practicing the standard L3/L4 triage toolkit.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What you'll do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Baseline the host, then inject DNS, gateway, firewall, MTU, duplicate-IP, and link-down faults, and finish with IPv4/IPv6 and packet-capture triage.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2148840"/>
            <a:ext cx="4114800" cy="35661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79" y="2286000"/>
            <a:ext cx="3749039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11827"/>
                </a:solidFill>
                <a:latin typeface="Arial"/>
              </a:rPr>
              <a:t>KEY COMMANDS &amp; CONCEPTS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ip addr / ip route baseline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resolv.conf / dig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default gateway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ufw port block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MTU / ping -M do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duplicate IP / arping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dummy interface link toggle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tcpdump / mtr / traceroute / nmap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806440"/>
            <a:ext cx="10927080" cy="502920"/>
          </a:xfrm>
          <a:prstGeom prst="rect">
            <a:avLst/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52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b="1" sz="1100">
                <a:solidFill>
                  <a:srgbClr val="0A7A3B"/>
                </a:solidFill>
                <a:latin typeface="Arial"/>
              </a:rPr>
              <a:t>✓ Test it:  </a:t>
            </a:r>
            <a:r>
              <a:rPr sz="1100">
                <a:solidFill>
                  <a:srgbClr val="111827"/>
                </a:solidFill>
                <a:latin typeface="Arial"/>
              </a:rPr>
              <a:t>Each single-variable fault produces its expected symptom and reverts cleanly, and IPv4/IPv6 plus capture tools confirm reachability.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27  ·  5.3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Troubleshooting Network Connectivity — Commands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Baseline and install tools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10927080" cy="1719072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607040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apt update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apt install -y dnsutils iproute2 iputils-ping mtr-tiny traceroute nmap tcpdump ufw netcat-openbsd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ip -br addr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ip route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cat /etc/resolv.conf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ss -tulpn | head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793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Break: DNS, then fix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36592"/>
            <a:ext cx="10927080" cy="1719072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809744"/>
            <a:ext cx="10607040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cp /etc/resolv.conf /tmp/resolv.conf.bak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sed -i 's/^nameserver/#nameserver/' /etc/resolv.conf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dig +time=2 +tries=1 example.com || echo "DNS broken as expected"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echo 'nameserver 8.8.8.8' &gt; /etc/resolv.conf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dig +short example.com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cp /tmp/resolv.conf.bak /etc/resolv.conf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B66"/>
                </a:solidFill>
                <a:latin typeface="Arial"/>
              </a:rPr>
              <a:t>Full step-by-step for all steps is in the Learner Guide and the labs/ folder.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28  ·  Objective 5.4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Troubleshooting Security Issues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55B66"/>
                </a:solidFill>
                <a:latin typeface="Arial"/>
              </a:rPr>
              <a:t>Maps to CompTIA Linux+ objective 5.4 — Analyze and troubleshoot security issues on a Linux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6583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Goal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Diagnose and repair security faults spanning SELinux contexts, POSIX ACLs, certificate trust, account lockout, broken repos, and weak TLS, using a Rocky container for the SELinux portion.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What you'll do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Pull a Rocky container for SELinux practice, then break and fix ACLs, CA trust, pam_faillock lockout, a bad apt repo, and weak TLS on the Ubuntu host.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2148840"/>
            <a:ext cx="4114800" cy="35661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79" y="2286000"/>
            <a:ext cx="3749039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11827"/>
                </a:solidFill>
                <a:latin typeface="Arial"/>
              </a:rPr>
              <a:t>KEY COMMANDS &amp; CONCEPTS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SELinux context / chcon / restorecon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AVC denials / ausearch / audit2allow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POSIX ACL / getfacl / setfacl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CA trust / update-ca-certificates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pam_faillock lockout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apt repo / TLS s_client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unattended-upgrades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806440"/>
            <a:ext cx="10927080" cy="502920"/>
          </a:xfrm>
          <a:prstGeom prst="rect">
            <a:avLst/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52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b="1" sz="1100">
                <a:solidFill>
                  <a:srgbClr val="0A7A3B"/>
                </a:solidFill>
                <a:latin typeface="Arial"/>
              </a:rPr>
              <a:t>✓ Test it:  </a:t>
            </a:r>
            <a:r>
              <a:rPr sz="1100">
                <a:solidFill>
                  <a:srgbClr val="111827"/>
                </a:solidFill>
                <a:latin typeface="Arial"/>
              </a:rPr>
              <a:t>restorecon fixes SELinux type, getfacl/setfacl explains hidden ACL denials, the CA trust bundle rebuilds, faillock resets, and modern TLS negotiates while TLS1.0 is refused.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28  ·  5.4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Troubleshooting Security Issues — Commands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Prep host and pull a Rocky container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10927080" cy="1719072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607040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apt update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apt install -y docker.io acl openssl libpam-modules ca-certificates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systemctl start docker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docker pull rockylinux:9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docker run -dit --name selab --privileged rockylinux:9 bash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docker exec selab dnf -y install policycoreutils policycoreutils-python-utils selinux-policy-targeted setools-console audit httpd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793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Break: SELinux context, then restorecon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36592"/>
            <a:ext cx="10927080" cy="1975104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809744"/>
            <a:ext cx="10607040" cy="197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docker exec selab bash -c '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mkdir -p /var/www/html &amp;&amp; echo hello &gt; /tmp/index.html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cp /tmp/index.html /var/www/html/index.html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ls -Z /var/www/html/index.html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chcon -t user_home_t /var/www/html/index.html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ls -Z /var/www/html/index.html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restorecon -v /var/www/html/index.html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B66"/>
                </a:solidFill>
                <a:latin typeface="Arial"/>
              </a:rPr>
              <a:t>Full step-by-step for all steps is in the Learner Guide and the labs/ folder.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29  ·  Objective 5.5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Troubleshooting Performance Issues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55B66"/>
                </a:solidFill>
                <a:latin typeface="Arial"/>
              </a:rPr>
              <a:t>Maps to CompTIA Linux+ objective 5.5 — Analyze and troubleshoot performance issues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6583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Goal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Stress CPU, memory, disk I/O, and network in turn, then walk the universal performance loop: baseline, spike, identify the bottleneck with the right counter, and resolve it.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What you'll do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Install stress-ng, fio, and sysstat, baseline the host, then generate controlled CPU, memory, disk, and network spikes and attribute each to the right counter and PID.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2148840"/>
            <a:ext cx="4114800" cy="35661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79" y="2286000"/>
            <a:ext cx="3749039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11827"/>
                </a:solidFill>
                <a:latin typeface="Arial"/>
              </a:rPr>
              <a:t>KEY COMMANDS &amp; CONCEPTS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baseline: uptime/free/vmstat/mpstat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stress-ng CPU spike / load average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memory pressure / vmstat si-so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fio disk storm / iostat -x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D-state / ping jitter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pidstat context switches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ps --sort triage script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806440"/>
            <a:ext cx="10927080" cy="502920"/>
          </a:xfrm>
          <a:prstGeom prst="rect">
            <a:avLst/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52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b="1" sz="1100">
                <a:solidFill>
                  <a:srgbClr val="0A7A3B"/>
                </a:solidFill>
                <a:latin typeface="Arial"/>
              </a:rPr>
              <a:t>✓ Test it:  </a:t>
            </a:r>
            <a:r>
              <a:rPr sz="1100">
                <a:solidFill>
                  <a:srgbClr val="111827"/>
                </a:solidFill>
                <a:latin typeface="Arial"/>
              </a:rPr>
              <a:t>Each spike maps to its diagnostic counter (load vs mpstat, si/so vs free, %util vs await) and the triage script shows baseline-to-recovery.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29  ·  5.5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Troubleshooting Performance Issues — Commands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Install the toolkit and baseline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10927080" cy="1975104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607040" cy="197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apt update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apt install -y stress-ng fio sysstat htop iotop iftop dstat procps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uptime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free -m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vmstat 1 3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mpstat 1 2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df -h 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3542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Generate and observe a CPU spike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992624"/>
            <a:ext cx="10927080" cy="1719072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065776"/>
            <a:ext cx="10607040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stress-ng --cpu 4 --timeout 30 &amp;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sleep 5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uptime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mpstat -P ALL 1 3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top -bn1 | head -n 15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wait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B66"/>
                </a:solidFill>
                <a:latin typeface="Arial"/>
              </a:rPr>
              <a:t>Full step-by-step for all steps is in the Learner Guide and the labs/ folder.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30  ·  Objective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Capstone: End-to-End Server Build and Triage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55B66"/>
                </a:solidFill>
                <a:latin typeface="Arial"/>
              </a:rPr>
              <a:t>Maps to CompTIA Linux+ objective Capstone — Capstone: End-to-end server build &amp; triage (all domains)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6583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Goal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Integrate Objectives 1-5 into one coherent build: a hardened admin account, LVM storage, nginx with a systemd override, a locked firewall, a health-check timer, and git-versioned config, then inject a fault and triage it end-to-end.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C8102E"/>
                </a:solidFill>
                <a:latin typeface="Arial"/>
              </a:rPr>
              <a:t>What you'll do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Provision webops with hardened SSH, build LVM-backed /srv/web, deploy nginx, lock ufw to web ports, add a health-check timer, version /etc/nginx in git, then inject and remediate a disk-full fault.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2148840"/>
            <a:ext cx="4114800" cy="35661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79" y="2286000"/>
            <a:ext cx="3749039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11827"/>
                </a:solidFill>
                <a:latin typeface="Arial"/>
              </a:rPr>
              <a:t>KEY COMMANDS &amp; CONCEPTS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hardened SSH / narrow sudo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LVM: pvcreate/vgcreate/lvcreate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systemd drop-in override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ufw default-deny allowlist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systemd timer health check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git-versioned /etc/nginx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11827"/>
                </a:solidFill>
                <a:latin typeface="Consolas"/>
              </a:rPr>
              <a:t>▪ fault injection and triage loop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806440"/>
            <a:ext cx="10927080" cy="502920"/>
          </a:xfrm>
          <a:prstGeom prst="rect">
            <a:avLst/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52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b="1" sz="1100">
                <a:solidFill>
                  <a:srgbClr val="0A7A3B"/>
                </a:solidFill>
                <a:latin typeface="Arial"/>
              </a:rPr>
              <a:t>✓ Test it:  </a:t>
            </a:r>
            <a:r>
              <a:rPr sz="1100">
                <a:solidFill>
                  <a:srgbClr val="111827"/>
                </a:solidFill>
                <a:latin typeface="Arial"/>
              </a:rPr>
              <a:t>After remediation curl returns the Capstone page with a 200, confirming the full build and the status/journal/sockets/storage/probe triage loop.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Lab 30  · 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Capstone: End-to-End Server Build and Triage — Commands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Provision a user and harden SSH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10927080" cy="1975104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607040" cy="197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apt update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apt install -y openssh-server sudo nginx lvm2 ufw git curl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useradd -m -s /bin/bash -G sudo webops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echo 'webops:LabPass!23' | chpasswd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echo 'webops ALL=(ALL) NOPASSWD: /bin/systemctl, /usr/bin/journalctl' &gt;/etc/sudoers.d/webops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sed -i 's/^#\?PermitRootLogin.*/PermitRootLogin no/' /etc/ssh/sshd_config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sed -i 's/^#\?PasswordAuthentication.*/PasswordAuthentication no/' /etc/ssh/sshd_config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3542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Build LVM-backed /srv/web over loopback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992624"/>
            <a:ext cx="10927080" cy="1975104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065776"/>
            <a:ext cx="10607040" cy="197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dd if=/dev/zero of=/var/lab-pv.img bs=1M count=200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LOOP=$(losetup --find --show /var/lab-pv.img)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pvcreate $LOOP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vgcreate labvg $LOOP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lvcreate -n weblv -L 150M labvg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mkfs.ext4 /dev/labvg/weblv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D6F5DF"/>
                </a:solidFill>
                <a:latin typeface="Consolas"/>
              </a:rPr>
              <a:t>mkdir -p /srv/web &amp;&amp; mount /dev/labvg/weblv /srv/web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B66"/>
                </a:solidFill>
                <a:latin typeface="Arial"/>
              </a:rPr>
              <a:t>Full step-by-step for all steps is in the Learner Guide and the labs/ folder.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Summary &amp; Q&amp;A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11827"/>
                </a:solidFill>
                <a:latin typeface="Arial"/>
              </a:rPr>
              <a:t>•  You have covered all five CompTIA Linux+ XK0-006 domains through 30 hands-on labs.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11827"/>
                </a:solidFill>
                <a:latin typeface="Arial"/>
              </a:rPr>
              <a:t>•  System Management · Services &amp; User Management · Security · Automation &amp; Scripting · Troubleshooting.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11827"/>
                </a:solidFill>
                <a:latin typeface="Arial"/>
              </a:rPr>
              <a:t>•  Keep practising on Killercoda and review the Learner Guide before the exam.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11827"/>
                </a:solidFill>
                <a:latin typeface="Arial"/>
              </a:rPr>
              <a:t>•  Questions?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Courseware &amp; Assessment on the LMS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11827"/>
                </a:solidFill>
                <a:latin typeface="Arial"/>
              </a:rPr>
              <a:t>•  Download the slide deck and Learner Guide from the LMS.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11827"/>
                </a:solidFill>
                <a:latin typeface="Arial"/>
              </a:rPr>
              <a:t>•  Complete the Written Assessment and Practical Performance on the LMS.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11827"/>
                </a:solidFill>
                <a:latin typeface="Arial"/>
              </a:rPr>
              <a:t>•  LMS: https://lms-tms.tertiaryinfotech.com/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11827"/>
                </a:solidFill>
                <a:latin typeface="Arial"/>
              </a:rPr>
              <a:t>•  Contact: enquiry@tertiaryinfotech.com · +65 6100 0613 · www.tertiarycourses.com.sg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Arial"/>
              </a:rPr>
              <a:t>Certification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11827"/>
                </a:solidFill>
                <a:latin typeface="Arial"/>
              </a:rPr>
              <a:t>Certification &amp; TRAQOM Survey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3716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11827"/>
                </a:solidFill>
                <a:latin typeface="Arial"/>
              </a:rPr>
              <a:t>•  Scan the TRAQOM QR code on the LMS and complete the course feedback survey.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11827"/>
                </a:solidFill>
                <a:latin typeface="Arial"/>
              </a:rPr>
              <a:t>•  A WSQ Statement of Attainment / certificate follows a Competent assessment result.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11827"/>
                </a:solidFill>
                <a:latin typeface="Arial"/>
              </a:rPr>
              <a:t>•  Your feedback helps us improve — thank you!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11827"/>
                </a:solidFill>
                <a:latin typeface="Arial"/>
              </a:rPr>
              <a:t>•  Survey &amp; certification portal: ai-lms-tms.tertiaryinfo.tech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55B66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4800" b="1">
                <a:solidFill>
                  <a:srgbClr val="FFFFFF"/>
                </a:solidFill>
                <a:latin typeface="Arial"/>
              </a:rPr>
              <a:t>Thank You!</a:t>
            </a:r>
          </a:p>
          <a:p>
            <a:pPr algn="ctr">
              <a:spcAft>
                <a:spcPts val="400"/>
              </a:spcAft>
            </a:pPr>
            <a:r>
              <a:rPr sz="1800" b="0">
                <a:solidFill>
                  <a:srgbClr val="C9CED6"/>
                </a:solidFill>
                <a:latin typeface="Arial"/>
              </a:rPr>
              <a:t>All the best for your CompTIA Linux+ XK0-006 certification.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AA1AC"/>
                </a:solidFill>
                <a:latin typeface="Arial"/>
              </a:rPr>
              <a:t>© Tertiary Infotech Academy Pte Ltd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